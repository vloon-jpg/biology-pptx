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Rectangle 1"/>
          <p:cNvSpPr/>
          <p:nvPr/>
        </p:nvSpPr>
        <p:spPr>
          <a:xfrm>
            <a:off x="0" y="2560320"/>
            <a:ext cx="12191695" cy="1645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32720" cy="1097280"/>
          </a:xfrm>
          <a:prstGeom prst="rect">
            <a:avLst/>
          </a:prstGeom>
          <a:noFill/>
        </p:spPr>
        <p:txBody>
          <a:bodyPr wrap="square"/>
          <a:lstStyle/>
          <a:p>
            <a:pPr algn="ctr">
              <a:defRPr sz="5200" b="1">
                <a:solidFill>
                  <a:srgbClr val="FFFFFF"/>
                </a:solidFill>
                <a:latin typeface="Calibri Light"/>
              </a:defRPr>
            </a:pPr>
            <a:r>
              <a:t>Photosynthesis</a:t>
            </a:r>
          </a:p>
        </p:txBody>
      </p:sp>
      <p:sp>
        <p:nvSpPr>
          <p:cNvPr id="4" name="TextBox 3"/>
          <p:cNvSpPr txBox="1"/>
          <p:nvPr/>
        </p:nvSpPr>
        <p:spPr>
          <a:xfrm>
            <a:off x="914400" y="1920240"/>
            <a:ext cx="10332720" cy="731520"/>
          </a:xfrm>
          <a:prstGeom prst="rect">
            <a:avLst/>
          </a:prstGeom>
          <a:noFill/>
        </p:spPr>
        <p:txBody>
          <a:bodyPr wrap="square"/>
          <a:lstStyle/>
          <a:p>
            <a:pPr algn="ctr">
              <a:defRPr sz="2800" b="0">
                <a:solidFill>
                  <a:srgbClr val="CDDC39"/>
                </a:solidFill>
                <a:latin typeface="Calibri Light"/>
              </a:defRPr>
            </a:pPr>
            <a:r>
              <a:t>How Plants Make Their Own Food</a:t>
            </a:r>
          </a:p>
        </p:txBody>
      </p:sp>
      <p:sp>
        <p:nvSpPr>
          <p:cNvPr id="5" name="TextBox 4"/>
          <p:cNvSpPr txBox="1"/>
          <p:nvPr/>
        </p:nvSpPr>
        <p:spPr>
          <a:xfrm>
            <a:off x="1828800" y="2880360"/>
            <a:ext cx="8503920" cy="320040"/>
          </a:xfrm>
          <a:prstGeom prst="rect">
            <a:avLst/>
          </a:prstGeom>
          <a:noFill/>
        </p:spPr>
        <p:txBody>
          <a:bodyPr wrap="square"/>
          <a:lstStyle/>
          <a:p>
            <a:pPr algn="ctr">
              <a:defRPr sz="1100" b="1">
                <a:solidFill>
                  <a:srgbClr val="FFFFFF"/>
                </a:solidFill>
                <a:latin typeface="Calibri"/>
              </a:defRPr>
            </a:pPr>
            <a:r>
              <a:t>PRESENTED BY</a:t>
            </a:r>
          </a:p>
        </p:txBody>
      </p:sp>
      <p:sp>
        <p:nvSpPr>
          <p:cNvPr id="6" name="TextBox 5"/>
          <p:cNvSpPr txBox="1"/>
          <p:nvPr/>
        </p:nvSpPr>
        <p:spPr>
          <a:xfrm>
            <a:off x="1828800" y="3200400"/>
            <a:ext cx="8503920" cy="274320"/>
          </a:xfrm>
          <a:prstGeom prst="rect">
            <a:avLst/>
          </a:prstGeom>
          <a:noFill/>
        </p:spPr>
        <p:txBody>
          <a:bodyPr wrap="square"/>
          <a:lstStyle/>
          <a:p>
            <a:pPr algn="ctr">
              <a:defRPr sz="1600" b="0">
                <a:solidFill>
                  <a:srgbClr val="FFFFFF"/>
                </a:solidFill>
                <a:latin typeface="Calibri"/>
              </a:defRPr>
            </a:pPr>
            <a:r>
              <a:t>Dr. Sarah Chen</a:t>
            </a:r>
          </a:p>
        </p:txBody>
      </p:sp>
      <p:sp>
        <p:nvSpPr>
          <p:cNvPr id="7" name="TextBox 6"/>
          <p:cNvSpPr txBox="1"/>
          <p:nvPr/>
        </p:nvSpPr>
        <p:spPr>
          <a:xfrm>
            <a:off x="1828800" y="3493008"/>
            <a:ext cx="8503920" cy="274320"/>
          </a:xfrm>
          <a:prstGeom prst="rect">
            <a:avLst/>
          </a:prstGeom>
          <a:noFill/>
        </p:spPr>
        <p:txBody>
          <a:bodyPr wrap="square"/>
          <a:lstStyle/>
          <a:p>
            <a:pPr algn="ctr">
              <a:defRPr sz="1600" b="0">
                <a:solidFill>
                  <a:srgbClr val="FFFFFF"/>
                </a:solidFill>
                <a:latin typeface="Calibri"/>
              </a:defRPr>
            </a:pPr>
            <a:r>
              <a:t>Prof. Marcus Williams</a:t>
            </a:r>
          </a:p>
        </p:txBody>
      </p:sp>
      <p:sp>
        <p:nvSpPr>
          <p:cNvPr id="8" name="TextBox 7"/>
          <p:cNvSpPr txBox="1"/>
          <p:nvPr/>
        </p:nvSpPr>
        <p:spPr>
          <a:xfrm>
            <a:off x="1828800" y="3785616"/>
            <a:ext cx="8503920" cy="274320"/>
          </a:xfrm>
          <a:prstGeom prst="rect">
            <a:avLst/>
          </a:prstGeom>
          <a:noFill/>
        </p:spPr>
        <p:txBody>
          <a:bodyPr wrap="square"/>
          <a:lstStyle/>
          <a:p>
            <a:pPr algn="ctr">
              <a:defRPr sz="1600" b="0">
                <a:solidFill>
                  <a:srgbClr val="FFFFFF"/>
                </a:solidFill>
                <a:latin typeface="Calibri"/>
              </a:defRPr>
            </a:pPr>
            <a:r>
              <a:t>Dr. Aisha Patel</a:t>
            </a:r>
          </a:p>
        </p:txBody>
      </p:sp>
      <p:sp>
        <p:nvSpPr>
          <p:cNvPr id="9" name="TextBox 8"/>
          <p:cNvSpPr txBox="1"/>
          <p:nvPr/>
        </p:nvSpPr>
        <p:spPr>
          <a:xfrm>
            <a:off x="1828800" y="4078224"/>
            <a:ext cx="8503920" cy="274320"/>
          </a:xfrm>
          <a:prstGeom prst="rect">
            <a:avLst/>
          </a:prstGeom>
          <a:noFill/>
        </p:spPr>
        <p:txBody>
          <a:bodyPr wrap="square"/>
          <a:lstStyle/>
          <a:p>
            <a:pPr algn="ctr">
              <a:defRPr sz="1600" b="0">
                <a:solidFill>
                  <a:srgbClr val="FFFFFF"/>
                </a:solidFill>
                <a:latin typeface="Calibri"/>
              </a:defRPr>
            </a:pPr>
            <a:r>
              <a:t>Dr. James Rodriguez</a:t>
            </a:r>
          </a:p>
        </p:txBody>
      </p:sp>
      <p:sp>
        <p:nvSpPr>
          <p:cNvPr id="10" name="TextBox 9"/>
          <p:cNvSpPr txBox="1"/>
          <p:nvPr/>
        </p:nvSpPr>
        <p:spPr>
          <a:xfrm>
            <a:off x="1828800" y="4370832"/>
            <a:ext cx="8503920" cy="274320"/>
          </a:xfrm>
          <a:prstGeom prst="rect">
            <a:avLst/>
          </a:prstGeom>
          <a:noFill/>
        </p:spPr>
        <p:txBody>
          <a:bodyPr wrap="square"/>
          <a:lstStyle/>
          <a:p>
            <a:pPr algn="ctr">
              <a:defRPr sz="1600" b="0">
                <a:solidFill>
                  <a:srgbClr val="FFFFFF"/>
                </a:solidFill>
                <a:latin typeface="Calibri"/>
              </a:defRPr>
            </a:pPr>
            <a:r>
              <a:t>Prof. Emily Nakamura</a:t>
            </a:r>
          </a:p>
        </p:txBody>
      </p:sp>
      <p:sp>
        <p:nvSpPr>
          <p:cNvPr id="11" name="TextBox 10"/>
          <p:cNvSpPr txBox="1"/>
          <p:nvPr/>
        </p:nvSpPr>
        <p:spPr>
          <a:xfrm>
            <a:off x="914400" y="5669280"/>
            <a:ext cx="10332720" cy="365760"/>
          </a:xfrm>
          <a:prstGeom prst="rect">
            <a:avLst/>
          </a:prstGeom>
          <a:noFill/>
        </p:spPr>
        <p:txBody>
          <a:bodyPr wrap="square"/>
          <a:lstStyle/>
          <a:p>
            <a:pPr algn="ctr">
              <a:defRPr sz="1100" b="0">
                <a:solidFill>
                  <a:srgbClr val="A5D6A7"/>
                </a:solidFill>
                <a:latin typeface="Calibri"/>
              </a:defRPr>
            </a:pPr>
            <a:r>
              <a:t>Department of Biological Sciences  |  June 2026</a:t>
            </a:r>
          </a:p>
        </p:txBody>
      </p:sp>
      <p:sp>
        <p:nvSpPr>
          <p:cNvPr id="12" name="Rectangle 11"/>
          <p:cNvSpPr/>
          <p:nvPr/>
        </p:nvSpPr>
        <p:spPr>
          <a:xfrm>
            <a:off x="0" y="6355080"/>
            <a:ext cx="12191695" cy="5029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19088"/>
            <a:ext cx="4572000" cy="365760"/>
          </a:xfrm>
          <a:prstGeom prst="rect">
            <a:avLst/>
          </a:prstGeom>
          <a:noFill/>
        </p:spPr>
        <p:txBody>
          <a:bodyPr wrap="square"/>
          <a:lstStyle/>
          <a:p>
            <a:pPr algn="l">
              <a:defRPr sz="900" b="0">
                <a:solidFill>
                  <a:srgbClr val="FFFFFF"/>
                </a:solidFill>
                <a:latin typeface="Calibri"/>
              </a:defRPr>
            </a:pPr>
            <a:r>
              <a:t>Photosynthesis: How Plants Make Their Own Food  |  </a:t>
            </a:r>
          </a:p>
        </p:txBody>
      </p:sp>
      <p:sp>
        <p:nvSpPr>
          <p:cNvPr id="14" name="TextBox 13"/>
          <p:cNvSpPr txBox="1"/>
          <p:nvPr/>
        </p:nvSpPr>
        <p:spPr>
          <a:xfrm>
            <a:off x="11155680" y="6419088"/>
            <a:ext cx="731520" cy="365760"/>
          </a:xfrm>
          <a:prstGeom prst="rect">
            <a:avLst/>
          </a:prstGeom>
          <a:noFill/>
        </p:spPr>
        <p:txBody>
          <a:bodyPr wrap="square"/>
          <a:lstStyle/>
          <a:p>
            <a:pPr algn="r">
              <a:defRPr sz="900" b="1">
                <a:solidFill>
                  <a:srgbClr val="FFFFFF"/>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515600" cy="640080"/>
          </a:xfrm>
          <a:prstGeom prst="rect">
            <a:avLst/>
          </a:prstGeom>
          <a:noFill/>
        </p:spPr>
        <p:txBody>
          <a:bodyPr wrap="square"/>
          <a:lstStyle/>
          <a:p>
            <a:pPr algn="l">
              <a:defRPr sz="3600" b="1">
                <a:solidFill>
                  <a:srgbClr val="FFFFFF"/>
                </a:solidFill>
                <a:latin typeface="Calibri Light"/>
              </a:defRPr>
            </a:pPr>
            <a:r>
              <a:t>What is Photosynthesis?</a:t>
            </a:r>
          </a:p>
        </p:txBody>
      </p:sp>
      <p:sp>
        <p:nvSpPr>
          <p:cNvPr id="4" name="Rectangle 3"/>
          <p:cNvSpPr/>
          <p:nvPr/>
        </p:nvSpPr>
        <p:spPr>
          <a:xfrm>
            <a:off x="548640" y="1371600"/>
            <a:ext cx="5303520" cy="2194560"/>
          </a:xfrm>
          <a:prstGeom prst="rect">
            <a:avLst/>
          </a:prstGeom>
          <a:solidFill>
            <a:srgbClr val="E8F5E9"/>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4754880" cy="1920240"/>
          </a:xfrm>
          <a:prstGeom prst="rect">
            <a:avLst/>
          </a:prstGeom>
          <a:noFill/>
        </p:spPr>
        <p:txBody>
          <a:bodyPr wrap="square"/>
          <a:lstStyle/>
          <a:p>
            <a:pPr algn="l">
              <a:defRPr sz="1600" b="0">
                <a:solidFill>
                  <a:srgbClr val="333333"/>
                </a:solidFill>
                <a:latin typeface="Calibri"/>
              </a:defRPr>
            </a:pPr>
            <a:r>
              <a:t>Photosynthesis is the biochemical process by which green plants, algae, and some bacteria convert light energy into chemical energy stored in glucose. Using sunlight, water, and carbon dioxide, plants produce glucose and release oxygen as a by-product.</a:t>
            </a:r>
          </a:p>
        </p:txBody>
      </p:sp>
      <p:sp>
        <p:nvSpPr>
          <p:cNvPr id="6" name="Rectangle 5"/>
          <p:cNvSpPr/>
          <p:nvPr/>
        </p:nvSpPr>
        <p:spPr>
          <a:xfrm>
            <a:off x="6217920" y="1371600"/>
            <a:ext cx="5303520" cy="21945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08760"/>
            <a:ext cx="4754880" cy="365760"/>
          </a:xfrm>
          <a:prstGeom prst="rect">
            <a:avLst/>
          </a:prstGeom>
          <a:noFill/>
        </p:spPr>
        <p:txBody>
          <a:bodyPr wrap="square"/>
          <a:lstStyle/>
          <a:p>
            <a:pPr algn="ctr">
              <a:defRPr sz="1200" b="1">
                <a:solidFill>
                  <a:srgbClr val="CDDC39"/>
                </a:solidFill>
                <a:latin typeface="Calibri"/>
              </a:defRPr>
            </a:pPr>
            <a:r>
              <a:t>THE CHEMICAL EQUATION</a:t>
            </a:r>
          </a:p>
        </p:txBody>
      </p:sp>
      <p:sp>
        <p:nvSpPr>
          <p:cNvPr id="8" name="TextBox 7"/>
          <p:cNvSpPr txBox="1"/>
          <p:nvPr/>
        </p:nvSpPr>
        <p:spPr>
          <a:xfrm>
            <a:off x="6492240" y="2011680"/>
            <a:ext cx="4754880" cy="1371600"/>
          </a:xfrm>
          <a:prstGeom prst="rect">
            <a:avLst/>
          </a:prstGeom>
          <a:noFill/>
        </p:spPr>
        <p:txBody>
          <a:bodyPr wrap="square"/>
          <a:lstStyle/>
          <a:p>
            <a:pPr algn="ctr">
              <a:defRPr sz="1800" b="1">
                <a:solidFill>
                  <a:srgbClr val="FFFFFF"/>
                </a:solidFill>
                <a:latin typeface="Calibri"/>
              </a:defRPr>
            </a:pPr>
            <a:r>
              <a:t>6 CO₂  +  6 H₂O  +  Light Energy</a:t>
            </a:r>
            <a:br/>
            <a:r>
              <a:t>           ═══════════════►</a:t>
            </a:r>
            <a:br/>
            <a:r>
              <a:t>C₆H₁₂O₆  +  6 O₂</a:t>
            </a:r>
          </a:p>
        </p:txBody>
      </p:sp>
      <p:sp>
        <p:nvSpPr>
          <p:cNvPr id="9" name="Rectangle 8"/>
          <p:cNvSpPr/>
          <p:nvPr/>
        </p:nvSpPr>
        <p:spPr>
          <a:xfrm>
            <a:off x="548640" y="3886200"/>
            <a:ext cx="2651760" cy="1554480"/>
          </a:xfrm>
          <a:prstGeom prst="rect">
            <a:avLst/>
          </a:prstGeom>
          <a:solidFill>
            <a:srgbClr val="E8F5E9"/>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023360"/>
            <a:ext cx="2377440" cy="457200"/>
          </a:xfrm>
          <a:prstGeom prst="rect">
            <a:avLst/>
          </a:prstGeom>
          <a:noFill/>
        </p:spPr>
        <p:txBody>
          <a:bodyPr wrap="square"/>
          <a:lstStyle/>
          <a:p>
            <a:pPr algn="ctr">
              <a:defRPr sz="1200" b="1">
                <a:solidFill>
                  <a:srgbClr val="1B5E20"/>
                </a:solidFill>
                <a:latin typeface="Calibri"/>
              </a:defRPr>
            </a:pPr>
            <a:r>
              <a:t>📗  Autotrophic</a:t>
            </a:r>
          </a:p>
        </p:txBody>
      </p:sp>
      <p:sp>
        <p:nvSpPr>
          <p:cNvPr id="11" name="TextBox 10"/>
          <p:cNvSpPr txBox="1"/>
          <p:nvPr/>
        </p:nvSpPr>
        <p:spPr>
          <a:xfrm>
            <a:off x="685800" y="4434840"/>
            <a:ext cx="2377440" cy="822960"/>
          </a:xfrm>
          <a:prstGeom prst="rect">
            <a:avLst/>
          </a:prstGeom>
          <a:noFill/>
        </p:spPr>
        <p:txBody>
          <a:bodyPr wrap="square"/>
          <a:lstStyle/>
          <a:p>
            <a:pPr algn="ctr">
              <a:defRPr sz="1100" b="0">
                <a:solidFill>
                  <a:srgbClr val="757575"/>
                </a:solidFill>
                <a:latin typeface="Calibri"/>
              </a:defRPr>
            </a:pPr>
            <a:r>
              <a:t>Plants produce</a:t>
            </a:r>
            <a:br/>
            <a:r>
              <a:t>their own food</a:t>
            </a:r>
          </a:p>
        </p:txBody>
      </p:sp>
      <p:sp>
        <p:nvSpPr>
          <p:cNvPr id="12" name="Rectangle 11"/>
          <p:cNvSpPr/>
          <p:nvPr/>
        </p:nvSpPr>
        <p:spPr>
          <a:xfrm>
            <a:off x="3429000" y="3886200"/>
            <a:ext cx="2651760" cy="1554480"/>
          </a:xfrm>
          <a:prstGeom prst="rect">
            <a:avLst/>
          </a:prstGeom>
          <a:solidFill>
            <a:srgbClr val="E8F5E9"/>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4023360"/>
            <a:ext cx="2377440" cy="457200"/>
          </a:xfrm>
          <a:prstGeom prst="rect">
            <a:avLst/>
          </a:prstGeom>
          <a:noFill/>
        </p:spPr>
        <p:txBody>
          <a:bodyPr wrap="square"/>
          <a:lstStyle/>
          <a:p>
            <a:pPr algn="ctr">
              <a:defRPr sz="1200" b="1">
                <a:solidFill>
                  <a:srgbClr val="1B5E20"/>
                </a:solidFill>
                <a:latin typeface="Calibri"/>
              </a:defRPr>
            </a:pPr>
            <a:r>
              <a:t>🌱  Chloroplasts</a:t>
            </a:r>
          </a:p>
        </p:txBody>
      </p:sp>
      <p:sp>
        <p:nvSpPr>
          <p:cNvPr id="14" name="TextBox 13"/>
          <p:cNvSpPr txBox="1"/>
          <p:nvPr/>
        </p:nvSpPr>
        <p:spPr>
          <a:xfrm>
            <a:off x="3566160" y="4434840"/>
            <a:ext cx="2377440" cy="822960"/>
          </a:xfrm>
          <a:prstGeom prst="rect">
            <a:avLst/>
          </a:prstGeom>
          <a:noFill/>
        </p:spPr>
        <p:txBody>
          <a:bodyPr wrap="square"/>
          <a:lstStyle/>
          <a:p>
            <a:pPr algn="ctr">
              <a:defRPr sz="1100" b="0">
                <a:solidFill>
                  <a:srgbClr val="757575"/>
                </a:solidFill>
                <a:latin typeface="Calibri"/>
              </a:defRPr>
            </a:pPr>
            <a:r>
              <a:t>Organelles where</a:t>
            </a:r>
            <a:br/>
            <a:r>
              <a:t>photosynthesis occurs</a:t>
            </a:r>
          </a:p>
        </p:txBody>
      </p:sp>
      <p:sp>
        <p:nvSpPr>
          <p:cNvPr id="15" name="Rectangle 14"/>
          <p:cNvSpPr/>
          <p:nvPr/>
        </p:nvSpPr>
        <p:spPr>
          <a:xfrm>
            <a:off x="6309359" y="3886200"/>
            <a:ext cx="2651760" cy="1554480"/>
          </a:xfrm>
          <a:prstGeom prst="rect">
            <a:avLst/>
          </a:prstGeom>
          <a:solidFill>
            <a:srgbClr val="E8F5E9"/>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19" y="4023360"/>
            <a:ext cx="2377440" cy="457200"/>
          </a:xfrm>
          <a:prstGeom prst="rect">
            <a:avLst/>
          </a:prstGeom>
          <a:noFill/>
        </p:spPr>
        <p:txBody>
          <a:bodyPr wrap="square"/>
          <a:lstStyle/>
          <a:p>
            <a:pPr algn="ctr">
              <a:defRPr sz="1200" b="1">
                <a:solidFill>
                  <a:srgbClr val="1B5E20"/>
                </a:solidFill>
                <a:latin typeface="Calibri"/>
              </a:defRPr>
            </a:pPr>
            <a:r>
              <a:t>☀️  Endergonic</a:t>
            </a:r>
          </a:p>
        </p:txBody>
      </p:sp>
      <p:sp>
        <p:nvSpPr>
          <p:cNvPr id="17" name="TextBox 16"/>
          <p:cNvSpPr txBox="1"/>
          <p:nvPr/>
        </p:nvSpPr>
        <p:spPr>
          <a:xfrm>
            <a:off x="6446519" y="4434840"/>
            <a:ext cx="2377440" cy="822960"/>
          </a:xfrm>
          <a:prstGeom prst="rect">
            <a:avLst/>
          </a:prstGeom>
          <a:noFill/>
        </p:spPr>
        <p:txBody>
          <a:bodyPr wrap="square"/>
          <a:lstStyle/>
          <a:p>
            <a:pPr algn="ctr">
              <a:defRPr sz="1100" b="0">
                <a:solidFill>
                  <a:srgbClr val="757575"/>
                </a:solidFill>
                <a:latin typeface="Calibri"/>
              </a:defRPr>
            </a:pPr>
            <a:r>
              <a:t>Requires energy</a:t>
            </a:r>
            <a:br/>
            <a:r>
              <a:t>input (sunlight)</a:t>
            </a:r>
          </a:p>
        </p:txBody>
      </p:sp>
      <p:sp>
        <p:nvSpPr>
          <p:cNvPr id="18" name="Rectangle 17"/>
          <p:cNvSpPr/>
          <p:nvPr/>
        </p:nvSpPr>
        <p:spPr>
          <a:xfrm>
            <a:off x="9189719" y="3886200"/>
            <a:ext cx="2651760" cy="1554480"/>
          </a:xfrm>
          <a:prstGeom prst="rect">
            <a:avLst/>
          </a:prstGeom>
          <a:solidFill>
            <a:srgbClr val="E8F5E9"/>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9" y="4023360"/>
            <a:ext cx="2377440" cy="457200"/>
          </a:xfrm>
          <a:prstGeom prst="rect">
            <a:avLst/>
          </a:prstGeom>
          <a:noFill/>
        </p:spPr>
        <p:txBody>
          <a:bodyPr wrap="square"/>
          <a:lstStyle/>
          <a:p>
            <a:pPr algn="ctr">
              <a:defRPr sz="1200" b="1">
                <a:solidFill>
                  <a:srgbClr val="1B5E20"/>
                </a:solidFill>
                <a:latin typeface="Calibri"/>
              </a:defRPr>
            </a:pPr>
            <a:r>
              <a:t>💨  Gas Exchange</a:t>
            </a:r>
          </a:p>
        </p:txBody>
      </p:sp>
      <p:sp>
        <p:nvSpPr>
          <p:cNvPr id="20" name="TextBox 19"/>
          <p:cNvSpPr txBox="1"/>
          <p:nvPr/>
        </p:nvSpPr>
        <p:spPr>
          <a:xfrm>
            <a:off x="9326879" y="4434840"/>
            <a:ext cx="2377440" cy="822960"/>
          </a:xfrm>
          <a:prstGeom prst="rect">
            <a:avLst/>
          </a:prstGeom>
          <a:noFill/>
        </p:spPr>
        <p:txBody>
          <a:bodyPr wrap="square"/>
          <a:lstStyle/>
          <a:p>
            <a:pPr algn="ctr">
              <a:defRPr sz="1100" b="0">
                <a:solidFill>
                  <a:srgbClr val="757575"/>
                </a:solidFill>
                <a:latin typeface="Calibri"/>
              </a:defRPr>
            </a:pPr>
            <a:r>
              <a:t>CO₂ in, O₂ out</a:t>
            </a:r>
            <a:br/>
            <a:r>
              <a:t>via stomata</a:t>
            </a:r>
          </a:p>
        </p:txBody>
      </p:sp>
      <p:sp>
        <p:nvSpPr>
          <p:cNvPr id="21" name="Rectangle 20"/>
          <p:cNvSpPr/>
          <p:nvPr/>
        </p:nvSpPr>
        <p:spPr>
          <a:xfrm>
            <a:off x="548640" y="5669280"/>
            <a:ext cx="11064240" cy="5029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5742432"/>
            <a:ext cx="10515600" cy="365760"/>
          </a:xfrm>
          <a:prstGeom prst="rect">
            <a:avLst/>
          </a:prstGeom>
          <a:noFill/>
        </p:spPr>
        <p:txBody>
          <a:bodyPr wrap="square"/>
          <a:lstStyle/>
          <a:p>
            <a:pPr algn="ctr">
              <a:defRPr sz="1200" b="0">
                <a:solidFill>
                  <a:srgbClr val="FFFFFF"/>
                </a:solidFill>
                <a:latin typeface="Calibri"/>
              </a:defRPr>
            </a:pPr>
            <a:r>
              <a:t>💡  Fun Fact:  Photosynthesis produces ~170 billion tonnes of biomass annually — the foundation of nearly all food chains on Earth!</a:t>
            </a:r>
          </a:p>
        </p:txBody>
      </p:sp>
      <p:sp>
        <p:nvSpPr>
          <p:cNvPr id="23" name="Rectangle 22"/>
          <p:cNvSpPr/>
          <p:nvPr/>
        </p:nvSpPr>
        <p:spPr>
          <a:xfrm>
            <a:off x="0" y="6355080"/>
            <a:ext cx="12191695" cy="5029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6419088"/>
            <a:ext cx="4572000" cy="365760"/>
          </a:xfrm>
          <a:prstGeom prst="rect">
            <a:avLst/>
          </a:prstGeom>
          <a:noFill/>
        </p:spPr>
        <p:txBody>
          <a:bodyPr wrap="square"/>
          <a:lstStyle/>
          <a:p>
            <a:pPr algn="l">
              <a:defRPr sz="900" b="0">
                <a:solidFill>
                  <a:srgbClr val="FFFFFF"/>
                </a:solidFill>
                <a:latin typeface="Calibri"/>
              </a:defRPr>
            </a:pPr>
            <a:r>
              <a:t>Photosynthesis: How Plants Make Their Own Food  |  Dr. Sarah Chen</a:t>
            </a:r>
          </a:p>
        </p:txBody>
      </p:sp>
      <p:sp>
        <p:nvSpPr>
          <p:cNvPr id="25" name="TextBox 24"/>
          <p:cNvSpPr txBox="1"/>
          <p:nvPr/>
        </p:nvSpPr>
        <p:spPr>
          <a:xfrm>
            <a:off x="11155680" y="6419088"/>
            <a:ext cx="731520" cy="365760"/>
          </a:xfrm>
          <a:prstGeom prst="rect">
            <a:avLst/>
          </a:prstGeom>
          <a:noFill/>
        </p:spPr>
        <p:txBody>
          <a:bodyPr wrap="square"/>
          <a:lstStyle/>
          <a:p>
            <a:pPr algn="r">
              <a:defRPr sz="900" b="1">
                <a:solidFill>
                  <a:srgbClr val="FFFFFF"/>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515600" cy="640080"/>
          </a:xfrm>
          <a:prstGeom prst="rect">
            <a:avLst/>
          </a:prstGeom>
          <a:noFill/>
        </p:spPr>
        <p:txBody>
          <a:bodyPr wrap="square"/>
          <a:lstStyle/>
          <a:p>
            <a:pPr algn="l">
              <a:defRPr sz="3600" b="1">
                <a:solidFill>
                  <a:srgbClr val="FFFFFF"/>
                </a:solidFill>
                <a:latin typeface="Calibri Light"/>
              </a:defRPr>
            </a:pPr>
            <a:r>
              <a:t>The Ingredients of Photosynthesis</a:t>
            </a:r>
          </a:p>
        </p:txBody>
      </p:sp>
      <p:sp>
        <p:nvSpPr>
          <p:cNvPr id="4" name="Rectangle 3"/>
          <p:cNvSpPr/>
          <p:nvPr/>
        </p:nvSpPr>
        <p:spPr>
          <a:xfrm>
            <a:off x="365760" y="1325880"/>
            <a:ext cx="2697480" cy="3200400"/>
          </a:xfrm>
          <a:prstGeom prst="rect">
            <a:avLst/>
          </a:prstGeom>
          <a:solidFill>
            <a:srgbClr val="E8F5E9"/>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25880"/>
            <a:ext cx="2697480" cy="59436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17320"/>
            <a:ext cx="2514600" cy="457200"/>
          </a:xfrm>
          <a:prstGeom prst="rect">
            <a:avLst/>
          </a:prstGeom>
          <a:noFill/>
        </p:spPr>
        <p:txBody>
          <a:bodyPr wrap="square"/>
          <a:lstStyle/>
          <a:p>
            <a:pPr algn="ctr">
              <a:defRPr sz="1500" b="1">
                <a:solidFill>
                  <a:srgbClr val="FFFFFF"/>
                </a:solidFill>
                <a:latin typeface="Calibri"/>
              </a:defRPr>
            </a:pPr>
            <a:r>
              <a:t>☀️  Sunlight</a:t>
            </a:r>
          </a:p>
        </p:txBody>
      </p:sp>
      <p:sp>
        <p:nvSpPr>
          <p:cNvPr id="7" name="TextBox 6"/>
          <p:cNvSpPr txBox="1"/>
          <p:nvPr/>
        </p:nvSpPr>
        <p:spPr>
          <a:xfrm>
            <a:off x="548640" y="2103120"/>
            <a:ext cx="2331720" cy="2194560"/>
          </a:xfrm>
          <a:prstGeom prst="rect">
            <a:avLst/>
          </a:prstGeom>
          <a:noFill/>
        </p:spPr>
        <p:txBody>
          <a:bodyPr wrap="square"/>
          <a:lstStyle/>
          <a:p>
            <a:pPr algn="l">
              <a:defRPr sz="1200" b="0">
                <a:solidFill>
                  <a:srgbClr val="333333"/>
                </a:solidFill>
                <a:latin typeface="Calibri"/>
              </a:defRPr>
            </a:pPr>
            <a:r>
              <a:t>• Primary energy source</a:t>
            </a:r>
            <a:br/>
            <a:r>
              <a:t>• Visible spectrum (400-700 nm)</a:t>
            </a:r>
            <a:br/>
            <a:r>
              <a:t>• Absorbed by chlorophyll pigments</a:t>
            </a:r>
            <a:br/>
            <a:r>
              <a:t>• Powers light-dependent reactions</a:t>
            </a:r>
          </a:p>
        </p:txBody>
      </p:sp>
      <p:sp>
        <p:nvSpPr>
          <p:cNvPr id="8" name="Rectangle 7"/>
          <p:cNvSpPr/>
          <p:nvPr/>
        </p:nvSpPr>
        <p:spPr>
          <a:xfrm>
            <a:off x="3291840" y="1325880"/>
            <a:ext cx="2697480" cy="3200400"/>
          </a:xfrm>
          <a:prstGeom prst="rect">
            <a:avLst/>
          </a:prstGeom>
          <a:solidFill>
            <a:srgbClr val="E8F5E9"/>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91840" y="1325880"/>
            <a:ext cx="2697480" cy="59436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417320"/>
            <a:ext cx="2514600" cy="457200"/>
          </a:xfrm>
          <a:prstGeom prst="rect">
            <a:avLst/>
          </a:prstGeom>
          <a:noFill/>
        </p:spPr>
        <p:txBody>
          <a:bodyPr wrap="square"/>
          <a:lstStyle/>
          <a:p>
            <a:pPr algn="ctr">
              <a:defRPr sz="1500" b="1">
                <a:solidFill>
                  <a:srgbClr val="FFFFFF"/>
                </a:solidFill>
                <a:latin typeface="Calibri"/>
              </a:defRPr>
            </a:pPr>
            <a:r>
              <a:t>💧  Water (H₂O)</a:t>
            </a:r>
          </a:p>
        </p:txBody>
      </p:sp>
      <p:sp>
        <p:nvSpPr>
          <p:cNvPr id="11" name="TextBox 10"/>
          <p:cNvSpPr txBox="1"/>
          <p:nvPr/>
        </p:nvSpPr>
        <p:spPr>
          <a:xfrm>
            <a:off x="3474720" y="2103120"/>
            <a:ext cx="2331720" cy="2194560"/>
          </a:xfrm>
          <a:prstGeom prst="rect">
            <a:avLst/>
          </a:prstGeom>
          <a:noFill/>
        </p:spPr>
        <p:txBody>
          <a:bodyPr wrap="square"/>
          <a:lstStyle/>
          <a:p>
            <a:pPr algn="l">
              <a:defRPr sz="1200" b="0">
                <a:solidFill>
                  <a:srgbClr val="333333"/>
                </a:solidFill>
                <a:latin typeface="Calibri"/>
              </a:defRPr>
            </a:pPr>
            <a:r>
              <a:t>• Absorbed by roots from soil</a:t>
            </a:r>
            <a:br/>
            <a:r>
              <a:t>• Transported via xylem vessels</a:t>
            </a:r>
            <a:br/>
            <a:r>
              <a:t>• Split during photolysis</a:t>
            </a:r>
            <a:br/>
            <a:r>
              <a:t>• Provides electrons &amp; H⁺ ions</a:t>
            </a:r>
          </a:p>
        </p:txBody>
      </p:sp>
      <p:sp>
        <p:nvSpPr>
          <p:cNvPr id="12" name="Rectangle 11"/>
          <p:cNvSpPr/>
          <p:nvPr/>
        </p:nvSpPr>
        <p:spPr>
          <a:xfrm>
            <a:off x="6217920" y="1325880"/>
            <a:ext cx="2697480" cy="3200400"/>
          </a:xfrm>
          <a:prstGeom prst="rect">
            <a:avLst/>
          </a:prstGeom>
          <a:solidFill>
            <a:srgbClr val="E8F5E9"/>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2697480" cy="59436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59" y="1417320"/>
            <a:ext cx="2514600" cy="457200"/>
          </a:xfrm>
          <a:prstGeom prst="rect">
            <a:avLst/>
          </a:prstGeom>
          <a:noFill/>
        </p:spPr>
        <p:txBody>
          <a:bodyPr wrap="square"/>
          <a:lstStyle/>
          <a:p>
            <a:pPr algn="ctr">
              <a:defRPr sz="1500" b="1">
                <a:solidFill>
                  <a:srgbClr val="FFFFFF"/>
                </a:solidFill>
                <a:latin typeface="Calibri"/>
              </a:defRPr>
            </a:pPr>
            <a:r>
              <a:t>🫧  Carbon Dioxide (CO₂)</a:t>
            </a:r>
          </a:p>
        </p:txBody>
      </p:sp>
      <p:sp>
        <p:nvSpPr>
          <p:cNvPr id="15" name="TextBox 14"/>
          <p:cNvSpPr txBox="1"/>
          <p:nvPr/>
        </p:nvSpPr>
        <p:spPr>
          <a:xfrm>
            <a:off x="6400800" y="2103120"/>
            <a:ext cx="2331720" cy="2194560"/>
          </a:xfrm>
          <a:prstGeom prst="rect">
            <a:avLst/>
          </a:prstGeom>
          <a:noFill/>
        </p:spPr>
        <p:txBody>
          <a:bodyPr wrap="square"/>
          <a:lstStyle/>
          <a:p>
            <a:pPr algn="l">
              <a:defRPr sz="1200" b="0">
                <a:solidFill>
                  <a:srgbClr val="333333"/>
                </a:solidFill>
                <a:latin typeface="Calibri"/>
              </a:defRPr>
            </a:pPr>
            <a:r>
              <a:t>• Enters through stomata</a:t>
            </a:r>
            <a:br/>
            <a:r>
              <a:t>• Diffuses into leaf mesophyll</a:t>
            </a:r>
            <a:br/>
            <a:r>
              <a:t>• Fixed in the Calvin cycle</a:t>
            </a:r>
            <a:br/>
            <a:r>
              <a:t>• Provides carbon backbone</a:t>
            </a:r>
          </a:p>
        </p:txBody>
      </p:sp>
      <p:sp>
        <p:nvSpPr>
          <p:cNvPr id="16" name="Rectangle 15"/>
          <p:cNvSpPr/>
          <p:nvPr/>
        </p:nvSpPr>
        <p:spPr>
          <a:xfrm>
            <a:off x="9144000" y="1325880"/>
            <a:ext cx="2697480" cy="3200400"/>
          </a:xfrm>
          <a:prstGeom prst="rect">
            <a:avLst/>
          </a:prstGeom>
          <a:solidFill>
            <a:srgbClr val="E8F5E9"/>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0" y="1325880"/>
            <a:ext cx="2697480" cy="59436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0" y="1417320"/>
            <a:ext cx="2514600" cy="457200"/>
          </a:xfrm>
          <a:prstGeom prst="rect">
            <a:avLst/>
          </a:prstGeom>
          <a:noFill/>
        </p:spPr>
        <p:txBody>
          <a:bodyPr wrap="square"/>
          <a:lstStyle/>
          <a:p>
            <a:pPr algn="ctr">
              <a:defRPr sz="1500" b="1">
                <a:solidFill>
                  <a:srgbClr val="FFFFFF"/>
                </a:solidFill>
                <a:latin typeface="Calibri"/>
              </a:defRPr>
            </a:pPr>
            <a:r>
              <a:t>🌿  Chlorophyll</a:t>
            </a:r>
          </a:p>
        </p:txBody>
      </p:sp>
      <p:sp>
        <p:nvSpPr>
          <p:cNvPr id="19" name="TextBox 18"/>
          <p:cNvSpPr txBox="1"/>
          <p:nvPr/>
        </p:nvSpPr>
        <p:spPr>
          <a:xfrm>
            <a:off x="9326880" y="2103120"/>
            <a:ext cx="2331720" cy="2194560"/>
          </a:xfrm>
          <a:prstGeom prst="rect">
            <a:avLst/>
          </a:prstGeom>
          <a:noFill/>
        </p:spPr>
        <p:txBody>
          <a:bodyPr wrap="square"/>
          <a:lstStyle/>
          <a:p>
            <a:pPr algn="l">
              <a:defRPr sz="1200" b="0">
                <a:solidFill>
                  <a:srgbClr val="333333"/>
                </a:solidFill>
                <a:latin typeface="Calibri"/>
              </a:defRPr>
            </a:pPr>
            <a:r>
              <a:t>• Green pigment in chloroplasts</a:t>
            </a:r>
            <a:br/>
            <a:r>
              <a:t>• Located in thylakoid membranes</a:t>
            </a:r>
            <a:br/>
            <a:r>
              <a:t>• Absorbs red &amp; blue light best</a:t>
            </a:r>
            <a:br/>
            <a:r>
              <a:t>• Reflects green light</a:t>
            </a:r>
          </a:p>
        </p:txBody>
      </p:sp>
      <p:sp>
        <p:nvSpPr>
          <p:cNvPr id="20" name="Rectangle 19"/>
          <p:cNvSpPr/>
          <p:nvPr/>
        </p:nvSpPr>
        <p:spPr>
          <a:xfrm>
            <a:off x="365760" y="4754880"/>
            <a:ext cx="11430000" cy="54864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828032"/>
            <a:ext cx="10972800" cy="411480"/>
          </a:xfrm>
          <a:prstGeom prst="rect">
            <a:avLst/>
          </a:prstGeom>
          <a:noFill/>
        </p:spPr>
        <p:txBody>
          <a:bodyPr wrap="square"/>
          <a:lstStyle/>
          <a:p>
            <a:pPr algn="ctr">
              <a:defRPr sz="1300" b="0">
                <a:solidFill>
                  <a:srgbClr val="FFFFFF"/>
                </a:solidFill>
                <a:latin typeface="Calibri"/>
              </a:defRPr>
            </a:pPr>
            <a:r>
              <a:t>🔑  All four ingredients must be present simultaneously for photosynthesis to proceed efficiently.</a:t>
            </a:r>
          </a:p>
        </p:txBody>
      </p:sp>
      <p:sp>
        <p:nvSpPr>
          <p:cNvPr id="22" name="Rectangle 21"/>
          <p:cNvSpPr/>
          <p:nvPr/>
        </p:nvSpPr>
        <p:spPr>
          <a:xfrm>
            <a:off x="365760" y="5532120"/>
            <a:ext cx="11430000" cy="685800"/>
          </a:xfrm>
          <a:prstGeom prst="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5596128"/>
            <a:ext cx="10881360" cy="548640"/>
          </a:xfrm>
          <a:prstGeom prst="rect">
            <a:avLst/>
          </a:prstGeom>
          <a:noFill/>
        </p:spPr>
        <p:txBody>
          <a:bodyPr wrap="square"/>
          <a:lstStyle/>
          <a:p>
            <a:pPr algn="l">
              <a:defRPr sz="1100" b="0">
                <a:solidFill>
                  <a:srgbClr val="333333"/>
                </a:solidFill>
                <a:latin typeface="Calibri"/>
              </a:defRPr>
            </a:pPr>
            <a:r>
              <a:t>📊  Key Insight:  Chlorophyll a absorbs maximally at ~430 nm (blue) and ~662 nm (red). Accessory pigments (chlorophyll b, carotenoids) broaden the absorption spectrum, capturing energy that chlorophyll a alone would miss.</a:t>
            </a:r>
          </a:p>
        </p:txBody>
      </p:sp>
      <p:sp>
        <p:nvSpPr>
          <p:cNvPr id="24" name="Rectangle 23"/>
          <p:cNvSpPr/>
          <p:nvPr/>
        </p:nvSpPr>
        <p:spPr>
          <a:xfrm>
            <a:off x="0" y="6355080"/>
            <a:ext cx="12191695" cy="5029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19088"/>
            <a:ext cx="4572000" cy="365760"/>
          </a:xfrm>
          <a:prstGeom prst="rect">
            <a:avLst/>
          </a:prstGeom>
          <a:noFill/>
        </p:spPr>
        <p:txBody>
          <a:bodyPr wrap="square"/>
          <a:lstStyle/>
          <a:p>
            <a:pPr algn="l">
              <a:defRPr sz="900" b="0">
                <a:solidFill>
                  <a:srgbClr val="FFFFFF"/>
                </a:solidFill>
                <a:latin typeface="Calibri"/>
              </a:defRPr>
            </a:pPr>
            <a:r>
              <a:t>Photosynthesis: How Plants Make Their Own Food  |  Prof. Marcus Williams</a:t>
            </a:r>
          </a:p>
        </p:txBody>
      </p:sp>
      <p:sp>
        <p:nvSpPr>
          <p:cNvPr id="26" name="TextBox 25"/>
          <p:cNvSpPr txBox="1"/>
          <p:nvPr/>
        </p:nvSpPr>
        <p:spPr>
          <a:xfrm>
            <a:off x="11155680" y="6419088"/>
            <a:ext cx="731520" cy="365760"/>
          </a:xfrm>
          <a:prstGeom prst="rect">
            <a:avLst/>
          </a:prstGeom>
          <a:noFill/>
        </p:spPr>
        <p:txBody>
          <a:bodyPr wrap="square"/>
          <a:lstStyle/>
          <a:p>
            <a:pPr algn="r">
              <a:defRPr sz="900" b="1">
                <a:solidFill>
                  <a:srgbClr val="FFFFFF"/>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515600" cy="640080"/>
          </a:xfrm>
          <a:prstGeom prst="rect">
            <a:avLst/>
          </a:prstGeom>
          <a:noFill/>
        </p:spPr>
        <p:txBody>
          <a:bodyPr wrap="square"/>
          <a:lstStyle/>
          <a:p>
            <a:pPr algn="l">
              <a:defRPr sz="3600" b="1">
                <a:solidFill>
                  <a:srgbClr val="FFFFFF"/>
                </a:solidFill>
                <a:latin typeface="Calibri Light"/>
              </a:defRPr>
            </a:pPr>
            <a:r>
              <a:t>The Two Stages of Photosynthesis</a:t>
            </a:r>
          </a:p>
        </p:txBody>
      </p:sp>
      <p:sp>
        <p:nvSpPr>
          <p:cNvPr id="4" name="Rectangle 3"/>
          <p:cNvSpPr/>
          <p:nvPr/>
        </p:nvSpPr>
        <p:spPr>
          <a:xfrm>
            <a:off x="365760" y="1325880"/>
            <a:ext cx="5577840" cy="2560320"/>
          </a:xfrm>
          <a:prstGeom prst="rect">
            <a:avLst/>
          </a:prstGeom>
          <a:solidFill>
            <a:srgbClr val="E8F5E9"/>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25880"/>
            <a:ext cx="5577840"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389888"/>
            <a:ext cx="5303520" cy="411480"/>
          </a:xfrm>
          <a:prstGeom prst="rect">
            <a:avLst/>
          </a:prstGeom>
          <a:noFill/>
        </p:spPr>
        <p:txBody>
          <a:bodyPr wrap="square"/>
          <a:lstStyle/>
          <a:p>
            <a:pPr algn="l">
              <a:defRPr sz="1700" b="1">
                <a:solidFill>
                  <a:srgbClr val="FFFFFF"/>
                </a:solidFill>
                <a:latin typeface="Calibri"/>
              </a:defRPr>
            </a:pPr>
            <a:r>
              <a:t>⚡  STAGE 1: Light-Dependent Reactions</a:t>
            </a:r>
          </a:p>
        </p:txBody>
      </p:sp>
      <p:sp>
        <p:nvSpPr>
          <p:cNvPr id="7" name="TextBox 6"/>
          <p:cNvSpPr txBox="1"/>
          <p:nvPr/>
        </p:nvSpPr>
        <p:spPr>
          <a:xfrm>
            <a:off x="594360" y="2011680"/>
            <a:ext cx="5120640" cy="1737360"/>
          </a:xfrm>
          <a:prstGeom prst="rect">
            <a:avLst/>
          </a:prstGeom>
          <a:noFill/>
        </p:spPr>
        <p:txBody>
          <a:bodyPr wrap="square">
            <a:spAutoFit/>
          </a:bodyPr>
          <a:lstStyle/>
          <a:p>
            <a:pPr>
              <a:spcAft>
                <a:spcPts val="360"/>
              </a:spcAft>
              <a:defRPr sz="1200">
                <a:solidFill>
                  <a:srgbClr val="333333"/>
                </a:solidFill>
                <a:latin typeface="Calibri"/>
              </a:defRPr>
            </a:pPr>
            <a:r>
              <a:t>▸  Occurs in the thylakoid membranes of chloroplasts</a:t>
            </a:r>
          </a:p>
          <a:p>
            <a:pPr>
              <a:spcAft>
                <a:spcPts val="360"/>
              </a:spcAft>
              <a:defRPr sz="1200">
                <a:solidFill>
                  <a:srgbClr val="333333"/>
                </a:solidFill>
                <a:latin typeface="Calibri"/>
              </a:defRPr>
            </a:pPr>
            <a:r>
              <a:t>▸  Sunlight splits water molecules (photolysis): 2 H₂O → 4 H⁺ + 4 e⁻ + O₂</a:t>
            </a:r>
          </a:p>
          <a:p>
            <a:pPr>
              <a:spcAft>
                <a:spcPts val="360"/>
              </a:spcAft>
              <a:defRPr sz="1200">
                <a:solidFill>
                  <a:srgbClr val="333333"/>
                </a:solidFill>
                <a:latin typeface="Calibri"/>
              </a:defRPr>
            </a:pPr>
            <a:r>
              <a:t>▸  Electrons move through the electron transport chain (ETC)</a:t>
            </a:r>
          </a:p>
          <a:p>
            <a:pPr>
              <a:spcAft>
                <a:spcPts val="360"/>
              </a:spcAft>
              <a:defRPr sz="1200">
                <a:solidFill>
                  <a:srgbClr val="333333"/>
                </a:solidFill>
                <a:latin typeface="Calibri"/>
              </a:defRPr>
            </a:pPr>
            <a:r>
              <a:t>▸  ATP is produced via chemiosmosis (photophosphorylation)</a:t>
            </a:r>
          </a:p>
          <a:p>
            <a:pPr>
              <a:spcAft>
                <a:spcPts val="360"/>
              </a:spcAft>
              <a:defRPr sz="1200">
                <a:solidFill>
                  <a:srgbClr val="333333"/>
                </a:solidFill>
                <a:latin typeface="Calibri"/>
              </a:defRPr>
            </a:pPr>
            <a:r>
              <a:t>▸  NADP⁺ is reduced to NADPH</a:t>
            </a:r>
          </a:p>
          <a:p>
            <a:pPr>
              <a:spcAft>
                <a:spcPts val="360"/>
              </a:spcAft>
              <a:defRPr sz="1200">
                <a:solidFill>
                  <a:srgbClr val="333333"/>
                </a:solidFill>
                <a:latin typeface="Calibri"/>
              </a:defRPr>
            </a:pPr>
            <a:r>
              <a:t>▸  Oxygen is released as a by-product into the atmosphere</a:t>
            </a:r>
          </a:p>
        </p:txBody>
      </p:sp>
      <p:sp>
        <p:nvSpPr>
          <p:cNvPr id="8" name="TextBox 7"/>
          <p:cNvSpPr txBox="1"/>
          <p:nvPr/>
        </p:nvSpPr>
        <p:spPr>
          <a:xfrm>
            <a:off x="5806440" y="2377440"/>
            <a:ext cx="594360" cy="457200"/>
          </a:xfrm>
          <a:prstGeom prst="rect">
            <a:avLst/>
          </a:prstGeom>
          <a:noFill/>
        </p:spPr>
        <p:txBody>
          <a:bodyPr wrap="square"/>
          <a:lstStyle/>
          <a:p>
            <a:pPr algn="ctr">
              <a:defRPr sz="1000" b="1">
                <a:solidFill>
                  <a:srgbClr val="2E7D32"/>
                </a:solidFill>
                <a:latin typeface="Calibri"/>
              </a:defRPr>
            </a:pPr>
            <a:r>
              <a:t>ATP</a:t>
            </a:r>
            <a:br/>
            <a:r>
              <a:t>NADPH</a:t>
            </a:r>
            <a:br/>
            <a:r>
              <a:t>▼</a:t>
            </a:r>
          </a:p>
        </p:txBody>
      </p:sp>
      <p:sp>
        <p:nvSpPr>
          <p:cNvPr id="9" name="Rectangle 8"/>
          <p:cNvSpPr/>
          <p:nvPr/>
        </p:nvSpPr>
        <p:spPr>
          <a:xfrm>
            <a:off x="6217920" y="1325880"/>
            <a:ext cx="5577840" cy="2560320"/>
          </a:xfrm>
          <a:prstGeom prst="rect">
            <a:avLst/>
          </a:prstGeom>
          <a:solidFill>
            <a:srgbClr val="E8F5E9"/>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325880"/>
            <a:ext cx="5577840" cy="5029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389888"/>
            <a:ext cx="5303520" cy="411480"/>
          </a:xfrm>
          <a:prstGeom prst="rect">
            <a:avLst/>
          </a:prstGeom>
          <a:noFill/>
        </p:spPr>
        <p:txBody>
          <a:bodyPr wrap="square"/>
          <a:lstStyle/>
          <a:p>
            <a:pPr algn="l">
              <a:defRPr sz="1700" b="1">
                <a:solidFill>
                  <a:srgbClr val="FFFFFF"/>
                </a:solidFill>
                <a:latin typeface="Calibri"/>
              </a:defRPr>
            </a:pPr>
            <a:r>
              <a:t>🔄  STAGE 2: Calvin Cycle (Light-Independent)</a:t>
            </a:r>
          </a:p>
        </p:txBody>
      </p:sp>
      <p:sp>
        <p:nvSpPr>
          <p:cNvPr id="12" name="TextBox 11"/>
          <p:cNvSpPr txBox="1"/>
          <p:nvPr/>
        </p:nvSpPr>
        <p:spPr>
          <a:xfrm>
            <a:off x="6446520" y="2011680"/>
            <a:ext cx="5120640" cy="1737360"/>
          </a:xfrm>
          <a:prstGeom prst="rect">
            <a:avLst/>
          </a:prstGeom>
          <a:noFill/>
        </p:spPr>
        <p:txBody>
          <a:bodyPr wrap="square">
            <a:spAutoFit/>
          </a:bodyPr>
          <a:lstStyle/>
          <a:p>
            <a:pPr>
              <a:spcAft>
                <a:spcPts val="360"/>
              </a:spcAft>
              <a:defRPr sz="1200">
                <a:solidFill>
                  <a:srgbClr val="333333"/>
                </a:solidFill>
                <a:latin typeface="Calibri"/>
              </a:defRPr>
            </a:pPr>
            <a:r>
              <a:t>▸  Occurs in the stroma of chloroplasts</a:t>
            </a:r>
          </a:p>
          <a:p>
            <a:pPr>
              <a:spcAft>
                <a:spcPts val="360"/>
              </a:spcAft>
              <a:defRPr sz="1200">
                <a:solidFill>
                  <a:srgbClr val="333333"/>
                </a:solidFill>
                <a:latin typeface="Calibri"/>
              </a:defRPr>
            </a:pPr>
            <a:r>
              <a:t>▸  Uses ATP and NADPH from Stage 1</a:t>
            </a:r>
          </a:p>
          <a:p>
            <a:pPr>
              <a:spcAft>
                <a:spcPts val="360"/>
              </a:spcAft>
              <a:defRPr sz="1200">
                <a:solidFill>
                  <a:srgbClr val="333333"/>
                </a:solidFill>
                <a:latin typeface="Calibri"/>
              </a:defRPr>
            </a:pPr>
            <a:r>
              <a:t>▸  CO₂ is fixed by the enzyme RuBisCO</a:t>
            </a:r>
          </a:p>
          <a:p>
            <a:pPr>
              <a:spcAft>
                <a:spcPts val="360"/>
              </a:spcAft>
              <a:defRPr sz="1200">
                <a:solidFill>
                  <a:srgbClr val="333333"/>
                </a:solidFill>
                <a:latin typeface="Calibri"/>
              </a:defRPr>
            </a:pPr>
            <a:r>
              <a:t>▸  3-phosphoglycerate (3-PGA) is reduced to G3P</a:t>
            </a:r>
          </a:p>
          <a:p>
            <a:pPr>
              <a:spcAft>
                <a:spcPts val="360"/>
              </a:spcAft>
              <a:defRPr sz="1200">
                <a:solidFill>
                  <a:srgbClr val="333333"/>
                </a:solidFill>
                <a:latin typeface="Calibri"/>
              </a:defRPr>
            </a:pPr>
            <a:r>
              <a:t>▸  G3P is used to synthesize glucose (C₆H₁₂O₆)</a:t>
            </a:r>
          </a:p>
          <a:p>
            <a:pPr>
              <a:spcAft>
                <a:spcPts val="360"/>
              </a:spcAft>
              <a:defRPr sz="1200">
                <a:solidFill>
                  <a:srgbClr val="333333"/>
                </a:solidFill>
                <a:latin typeface="Calibri"/>
              </a:defRPr>
            </a:pPr>
            <a:r>
              <a:t>▸  RuBP is regenerated to continue the cycle</a:t>
            </a:r>
          </a:p>
        </p:txBody>
      </p:sp>
      <p:sp>
        <p:nvSpPr>
          <p:cNvPr id="13" name="TextBox 12"/>
          <p:cNvSpPr txBox="1"/>
          <p:nvPr/>
        </p:nvSpPr>
        <p:spPr>
          <a:xfrm>
            <a:off x="365760" y="4114800"/>
            <a:ext cx="11430000" cy="365760"/>
          </a:xfrm>
          <a:prstGeom prst="rect">
            <a:avLst/>
          </a:prstGeom>
          <a:noFill/>
        </p:spPr>
        <p:txBody>
          <a:bodyPr wrap="square"/>
          <a:lstStyle/>
          <a:p>
            <a:pPr algn="ctr">
              <a:defRPr sz="1200" b="1">
                <a:solidFill>
                  <a:srgbClr val="2E7D32"/>
                </a:solidFill>
                <a:latin typeface="Calibri"/>
              </a:defRPr>
            </a:pPr>
            <a:r>
              <a:t>PROCESS FLOW</a:t>
            </a:r>
          </a:p>
        </p:txBody>
      </p:sp>
      <p:sp>
        <p:nvSpPr>
          <p:cNvPr id="14" name="Rectangle 13"/>
          <p:cNvSpPr/>
          <p:nvPr/>
        </p:nvSpPr>
        <p:spPr>
          <a:xfrm>
            <a:off x="518007" y="4526280"/>
            <a:ext cx="2011680" cy="6858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3727" y="4572000"/>
            <a:ext cx="1920240" cy="594360"/>
          </a:xfrm>
          <a:prstGeom prst="rect">
            <a:avLst/>
          </a:prstGeom>
          <a:noFill/>
        </p:spPr>
        <p:txBody>
          <a:bodyPr wrap="square"/>
          <a:lstStyle/>
          <a:p>
            <a:pPr algn="ctr">
              <a:defRPr sz="1100" b="1">
                <a:solidFill>
                  <a:srgbClr val="FFFFFF"/>
                </a:solidFill>
                <a:latin typeface="Calibri"/>
              </a:defRPr>
            </a:pPr>
            <a:r>
              <a:t>Sunlight</a:t>
            </a:r>
            <a:br/>
            <a:r>
              <a:t>+ H₂O</a:t>
            </a:r>
          </a:p>
        </p:txBody>
      </p:sp>
      <p:sp>
        <p:nvSpPr>
          <p:cNvPr id="16" name="TextBox 15"/>
          <p:cNvSpPr txBox="1"/>
          <p:nvPr/>
        </p:nvSpPr>
        <p:spPr>
          <a:xfrm>
            <a:off x="2547975" y="4663440"/>
            <a:ext cx="274320" cy="365760"/>
          </a:xfrm>
          <a:prstGeom prst="rect">
            <a:avLst/>
          </a:prstGeom>
          <a:noFill/>
        </p:spPr>
        <p:txBody>
          <a:bodyPr wrap="square"/>
          <a:lstStyle/>
          <a:p>
            <a:pPr algn="ctr">
              <a:defRPr sz="1800" b="1">
                <a:solidFill>
                  <a:srgbClr val="2E7D32"/>
                </a:solidFill>
                <a:latin typeface="Calibri"/>
              </a:defRPr>
            </a:pPr>
            <a:r>
              <a:t>→</a:t>
            </a:r>
          </a:p>
        </p:txBody>
      </p:sp>
      <p:sp>
        <p:nvSpPr>
          <p:cNvPr id="17" name="Rectangle 16"/>
          <p:cNvSpPr/>
          <p:nvPr/>
        </p:nvSpPr>
        <p:spPr>
          <a:xfrm>
            <a:off x="2804007" y="4526280"/>
            <a:ext cx="2011680" cy="6858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49727" y="4572000"/>
            <a:ext cx="1920240" cy="594360"/>
          </a:xfrm>
          <a:prstGeom prst="rect">
            <a:avLst/>
          </a:prstGeom>
          <a:noFill/>
        </p:spPr>
        <p:txBody>
          <a:bodyPr wrap="square"/>
          <a:lstStyle/>
          <a:p>
            <a:pPr algn="ctr">
              <a:defRPr sz="1100" b="1">
                <a:solidFill>
                  <a:srgbClr val="FFFFFF"/>
                </a:solidFill>
                <a:latin typeface="Calibri"/>
              </a:defRPr>
            </a:pPr>
            <a:r>
              <a:t>Light</a:t>
            </a:r>
            <a:br/>
            <a:r>
              <a:t>Reactions</a:t>
            </a:r>
          </a:p>
        </p:txBody>
      </p:sp>
      <p:sp>
        <p:nvSpPr>
          <p:cNvPr id="19" name="TextBox 18"/>
          <p:cNvSpPr txBox="1"/>
          <p:nvPr/>
        </p:nvSpPr>
        <p:spPr>
          <a:xfrm>
            <a:off x="4833975" y="4663440"/>
            <a:ext cx="274320" cy="365760"/>
          </a:xfrm>
          <a:prstGeom prst="rect">
            <a:avLst/>
          </a:prstGeom>
          <a:noFill/>
        </p:spPr>
        <p:txBody>
          <a:bodyPr wrap="square"/>
          <a:lstStyle/>
          <a:p>
            <a:pPr algn="ctr">
              <a:defRPr sz="1800" b="1">
                <a:solidFill>
                  <a:srgbClr val="2E7D32"/>
                </a:solidFill>
                <a:latin typeface="Calibri"/>
              </a:defRPr>
            </a:pPr>
            <a:r>
              <a:t>→</a:t>
            </a:r>
          </a:p>
        </p:txBody>
      </p:sp>
      <p:sp>
        <p:nvSpPr>
          <p:cNvPr id="20" name="Rectangle 19"/>
          <p:cNvSpPr/>
          <p:nvPr/>
        </p:nvSpPr>
        <p:spPr>
          <a:xfrm>
            <a:off x="5090007" y="4526280"/>
            <a:ext cx="2011680" cy="6858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35727" y="4572000"/>
            <a:ext cx="1920240" cy="594360"/>
          </a:xfrm>
          <a:prstGeom prst="rect">
            <a:avLst/>
          </a:prstGeom>
          <a:noFill/>
        </p:spPr>
        <p:txBody>
          <a:bodyPr wrap="square"/>
          <a:lstStyle/>
          <a:p>
            <a:pPr algn="ctr">
              <a:defRPr sz="1100" b="1">
                <a:solidFill>
                  <a:srgbClr val="FFFFFF"/>
                </a:solidFill>
                <a:latin typeface="Calibri"/>
              </a:defRPr>
            </a:pPr>
            <a:r>
              <a:t>ATP +</a:t>
            </a:r>
            <a:br/>
            <a:r>
              <a:t>NADPH</a:t>
            </a:r>
          </a:p>
        </p:txBody>
      </p:sp>
      <p:sp>
        <p:nvSpPr>
          <p:cNvPr id="22" name="TextBox 21"/>
          <p:cNvSpPr txBox="1"/>
          <p:nvPr/>
        </p:nvSpPr>
        <p:spPr>
          <a:xfrm>
            <a:off x="7119975" y="4663440"/>
            <a:ext cx="274320" cy="365760"/>
          </a:xfrm>
          <a:prstGeom prst="rect">
            <a:avLst/>
          </a:prstGeom>
          <a:noFill/>
        </p:spPr>
        <p:txBody>
          <a:bodyPr wrap="square"/>
          <a:lstStyle/>
          <a:p>
            <a:pPr algn="ctr">
              <a:defRPr sz="1800" b="1">
                <a:solidFill>
                  <a:srgbClr val="2E7D32"/>
                </a:solidFill>
                <a:latin typeface="Calibri"/>
              </a:defRPr>
            </a:pPr>
            <a:r>
              <a:t>→</a:t>
            </a:r>
          </a:p>
        </p:txBody>
      </p:sp>
      <p:sp>
        <p:nvSpPr>
          <p:cNvPr id="23" name="Rectangle 22"/>
          <p:cNvSpPr/>
          <p:nvPr/>
        </p:nvSpPr>
        <p:spPr>
          <a:xfrm>
            <a:off x="7376007" y="4526280"/>
            <a:ext cx="2011680" cy="6858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21727" y="4572000"/>
            <a:ext cx="1920240" cy="594360"/>
          </a:xfrm>
          <a:prstGeom prst="rect">
            <a:avLst/>
          </a:prstGeom>
          <a:noFill/>
        </p:spPr>
        <p:txBody>
          <a:bodyPr wrap="square"/>
          <a:lstStyle/>
          <a:p>
            <a:pPr algn="ctr">
              <a:defRPr sz="1100" b="1">
                <a:solidFill>
                  <a:srgbClr val="FFFFFF"/>
                </a:solidFill>
                <a:latin typeface="Calibri"/>
              </a:defRPr>
            </a:pPr>
            <a:r>
              <a:t>Calvin</a:t>
            </a:r>
            <a:br/>
            <a:r>
              <a:t>Cycle</a:t>
            </a:r>
          </a:p>
        </p:txBody>
      </p:sp>
      <p:sp>
        <p:nvSpPr>
          <p:cNvPr id="25" name="TextBox 24"/>
          <p:cNvSpPr txBox="1"/>
          <p:nvPr/>
        </p:nvSpPr>
        <p:spPr>
          <a:xfrm>
            <a:off x="9405974" y="4663440"/>
            <a:ext cx="274320" cy="365760"/>
          </a:xfrm>
          <a:prstGeom prst="rect">
            <a:avLst/>
          </a:prstGeom>
          <a:noFill/>
        </p:spPr>
        <p:txBody>
          <a:bodyPr wrap="square"/>
          <a:lstStyle/>
          <a:p>
            <a:pPr algn="ctr">
              <a:defRPr sz="1800" b="1">
                <a:solidFill>
                  <a:srgbClr val="2E7D32"/>
                </a:solidFill>
                <a:latin typeface="Calibri"/>
              </a:defRPr>
            </a:pPr>
            <a:r>
              <a:t>→</a:t>
            </a:r>
          </a:p>
        </p:txBody>
      </p:sp>
      <p:sp>
        <p:nvSpPr>
          <p:cNvPr id="26" name="Rectangle 25"/>
          <p:cNvSpPr/>
          <p:nvPr/>
        </p:nvSpPr>
        <p:spPr>
          <a:xfrm>
            <a:off x="9662007" y="4526280"/>
            <a:ext cx="2011680" cy="6858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07727" y="4572000"/>
            <a:ext cx="1920240" cy="594360"/>
          </a:xfrm>
          <a:prstGeom prst="rect">
            <a:avLst/>
          </a:prstGeom>
          <a:noFill/>
        </p:spPr>
        <p:txBody>
          <a:bodyPr wrap="square"/>
          <a:lstStyle/>
          <a:p>
            <a:pPr algn="ctr">
              <a:defRPr sz="1100" b="1">
                <a:solidFill>
                  <a:srgbClr val="FFFFFF"/>
                </a:solidFill>
                <a:latin typeface="Calibri"/>
              </a:defRPr>
            </a:pPr>
            <a:r>
              <a:t>Glucose</a:t>
            </a:r>
            <a:br/>
            <a:r>
              <a:t>C₆H₁₂O₆</a:t>
            </a:r>
          </a:p>
        </p:txBody>
      </p:sp>
      <p:sp>
        <p:nvSpPr>
          <p:cNvPr id="28" name="Rectangle 27"/>
          <p:cNvSpPr/>
          <p:nvPr/>
        </p:nvSpPr>
        <p:spPr>
          <a:xfrm>
            <a:off x="365760" y="5532120"/>
            <a:ext cx="11430000" cy="68580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596128"/>
            <a:ext cx="10881360" cy="548640"/>
          </a:xfrm>
          <a:prstGeom prst="rect">
            <a:avLst/>
          </a:prstGeom>
          <a:noFill/>
        </p:spPr>
        <p:txBody>
          <a:bodyPr wrap="square"/>
          <a:lstStyle/>
          <a:p>
            <a:pPr algn="l">
              <a:defRPr sz="1100" b="0">
                <a:solidFill>
                  <a:srgbClr val="FFFFFF"/>
                </a:solidFill>
                <a:latin typeface="Calibri"/>
              </a:defRPr>
            </a:pPr>
            <a:r>
              <a:t>🧬  Key Enzyme: RuBisCO (Ribulose-1,5-bisphosphate carboxylase/oxygenase) is the most abundant protein on Earth and catalyzes the first step of carbon fixation.</a:t>
            </a:r>
          </a:p>
        </p:txBody>
      </p:sp>
      <p:sp>
        <p:nvSpPr>
          <p:cNvPr id="30" name="Rectangle 29"/>
          <p:cNvSpPr/>
          <p:nvPr/>
        </p:nvSpPr>
        <p:spPr>
          <a:xfrm>
            <a:off x="0" y="6355080"/>
            <a:ext cx="12191695" cy="50292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19088"/>
            <a:ext cx="4572000" cy="365760"/>
          </a:xfrm>
          <a:prstGeom prst="rect">
            <a:avLst/>
          </a:prstGeom>
          <a:noFill/>
        </p:spPr>
        <p:txBody>
          <a:bodyPr wrap="square"/>
          <a:lstStyle/>
          <a:p>
            <a:pPr algn="l">
              <a:defRPr sz="900" b="0">
                <a:solidFill>
                  <a:srgbClr val="FFFFFF"/>
                </a:solidFill>
                <a:latin typeface="Calibri"/>
              </a:defRPr>
            </a:pPr>
            <a:r>
              <a:t>Photosynthesis: How Plants Make Their Own Food  |  Dr. Aisha Patel</a:t>
            </a:r>
          </a:p>
        </p:txBody>
      </p:sp>
      <p:sp>
        <p:nvSpPr>
          <p:cNvPr id="32" name="TextBox 31"/>
          <p:cNvSpPr txBox="1"/>
          <p:nvPr/>
        </p:nvSpPr>
        <p:spPr>
          <a:xfrm>
            <a:off x="11155680" y="6419088"/>
            <a:ext cx="731520" cy="365760"/>
          </a:xfrm>
          <a:prstGeom prst="rect">
            <a:avLst/>
          </a:prstGeom>
          <a:noFill/>
        </p:spPr>
        <p:txBody>
          <a:bodyPr wrap="square"/>
          <a:lstStyle/>
          <a:p>
            <a:pPr algn="r">
              <a:defRPr sz="900" b="1">
                <a:solidFill>
                  <a:srgbClr val="FFFFFF"/>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515600" cy="640080"/>
          </a:xfrm>
          <a:prstGeom prst="rect">
            <a:avLst/>
          </a:prstGeom>
          <a:noFill/>
        </p:spPr>
        <p:txBody>
          <a:bodyPr wrap="square"/>
          <a:lstStyle/>
          <a:p>
            <a:pPr algn="l">
              <a:defRPr sz="3600" b="1">
                <a:solidFill>
                  <a:srgbClr val="FFFFFF"/>
                </a:solidFill>
                <a:latin typeface="Calibri Light"/>
              </a:defRPr>
            </a:pPr>
            <a:r>
              <a:t>Why Photosynthesis Matters</a:t>
            </a:r>
          </a:p>
        </p:txBody>
      </p:sp>
      <p:sp>
        <p:nvSpPr>
          <p:cNvPr id="4" name="Rectangle 3"/>
          <p:cNvSpPr/>
          <p:nvPr/>
        </p:nvSpPr>
        <p:spPr>
          <a:xfrm>
            <a:off x="365760" y="1325880"/>
            <a:ext cx="11430000" cy="1097280"/>
          </a:xfrm>
          <a:prstGeom prst="rect">
            <a:avLst/>
          </a:prstGeom>
          <a:solidFill>
            <a:srgbClr val="E8F5E9"/>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25880"/>
            <a:ext cx="2743200" cy="10972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00200"/>
            <a:ext cx="2377440" cy="548640"/>
          </a:xfrm>
          <a:prstGeom prst="rect">
            <a:avLst/>
          </a:prstGeom>
          <a:noFill/>
        </p:spPr>
        <p:txBody>
          <a:bodyPr wrap="square"/>
          <a:lstStyle/>
          <a:p>
            <a:pPr algn="l">
              <a:defRPr sz="1600" b="1">
                <a:solidFill>
                  <a:srgbClr val="FFFFFF"/>
                </a:solidFill>
                <a:latin typeface="Calibri"/>
              </a:defRPr>
            </a:pPr>
            <a:r>
              <a:t>🌍  Oxygen Production</a:t>
            </a:r>
          </a:p>
        </p:txBody>
      </p:sp>
      <p:sp>
        <p:nvSpPr>
          <p:cNvPr id="7" name="TextBox 6"/>
          <p:cNvSpPr txBox="1"/>
          <p:nvPr/>
        </p:nvSpPr>
        <p:spPr>
          <a:xfrm>
            <a:off x="3383280" y="1463039"/>
            <a:ext cx="8229600" cy="822960"/>
          </a:xfrm>
          <a:prstGeom prst="rect">
            <a:avLst/>
          </a:prstGeom>
          <a:noFill/>
        </p:spPr>
        <p:txBody>
          <a:bodyPr wrap="square"/>
          <a:lstStyle/>
          <a:p>
            <a:pPr algn="l">
              <a:defRPr sz="1200" b="0">
                <a:solidFill>
                  <a:srgbClr val="333333"/>
                </a:solidFill>
                <a:latin typeface="Calibri"/>
              </a:defRPr>
            </a:pPr>
            <a:r>
              <a:t>Photosynthesis generates the oxygen that sustains aerobic life. Approximately 50-80% of Earth's oxygen comes from marine phytoplankton and terrestrial plants combined.</a:t>
            </a:r>
          </a:p>
        </p:txBody>
      </p:sp>
      <p:sp>
        <p:nvSpPr>
          <p:cNvPr id="8" name="Rectangle 7"/>
          <p:cNvSpPr/>
          <p:nvPr/>
        </p:nvSpPr>
        <p:spPr>
          <a:xfrm>
            <a:off x="365760" y="2560320"/>
            <a:ext cx="11430000" cy="1097280"/>
          </a:xfrm>
          <a:prstGeom prst="rect">
            <a:avLst/>
          </a:prstGeom>
          <a:solidFill>
            <a:srgbClr val="E8F5E9"/>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2560320"/>
            <a:ext cx="2743200" cy="10972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34639"/>
            <a:ext cx="2377440" cy="548640"/>
          </a:xfrm>
          <a:prstGeom prst="rect">
            <a:avLst/>
          </a:prstGeom>
          <a:noFill/>
        </p:spPr>
        <p:txBody>
          <a:bodyPr wrap="square"/>
          <a:lstStyle/>
          <a:p>
            <a:pPr algn="l">
              <a:defRPr sz="1600" b="1">
                <a:solidFill>
                  <a:srgbClr val="FFFFFF"/>
                </a:solidFill>
                <a:latin typeface="Calibri"/>
              </a:defRPr>
            </a:pPr>
            <a:r>
              <a:t>🍽️  Food Chain Foundation</a:t>
            </a:r>
          </a:p>
        </p:txBody>
      </p:sp>
      <p:sp>
        <p:nvSpPr>
          <p:cNvPr id="11" name="TextBox 10"/>
          <p:cNvSpPr txBox="1"/>
          <p:nvPr/>
        </p:nvSpPr>
        <p:spPr>
          <a:xfrm>
            <a:off x="3383280" y="2697479"/>
            <a:ext cx="8229600" cy="822960"/>
          </a:xfrm>
          <a:prstGeom prst="rect">
            <a:avLst/>
          </a:prstGeom>
          <a:noFill/>
        </p:spPr>
        <p:txBody>
          <a:bodyPr wrap="square"/>
          <a:lstStyle/>
          <a:p>
            <a:pPr algn="l">
              <a:defRPr sz="1200" b="0">
                <a:solidFill>
                  <a:srgbClr val="333333"/>
                </a:solidFill>
                <a:latin typeface="Calibri"/>
              </a:defRPr>
            </a:pPr>
            <a:r>
              <a:t>As primary producers, plants convert inorganic carbon into organic compounds. Every food chain on Earth — from herbivores to apex predators — depends on this process.</a:t>
            </a:r>
          </a:p>
        </p:txBody>
      </p:sp>
      <p:sp>
        <p:nvSpPr>
          <p:cNvPr id="12" name="Rectangle 11"/>
          <p:cNvSpPr/>
          <p:nvPr/>
        </p:nvSpPr>
        <p:spPr>
          <a:xfrm>
            <a:off x="365760" y="3794760"/>
            <a:ext cx="11430000" cy="1097280"/>
          </a:xfrm>
          <a:prstGeom prst="rect">
            <a:avLst/>
          </a:prstGeom>
          <a:solidFill>
            <a:srgbClr val="E8F5E9"/>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3794760"/>
            <a:ext cx="2743200" cy="10972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069080"/>
            <a:ext cx="2377440" cy="548640"/>
          </a:xfrm>
          <a:prstGeom prst="rect">
            <a:avLst/>
          </a:prstGeom>
          <a:noFill/>
        </p:spPr>
        <p:txBody>
          <a:bodyPr wrap="square"/>
          <a:lstStyle/>
          <a:p>
            <a:pPr algn="l">
              <a:defRPr sz="1600" b="1">
                <a:solidFill>
                  <a:srgbClr val="FFFFFF"/>
                </a:solidFill>
                <a:latin typeface="Calibri"/>
              </a:defRPr>
            </a:pPr>
            <a:r>
              <a:t>🌡️  Climate Regulation</a:t>
            </a:r>
          </a:p>
        </p:txBody>
      </p:sp>
      <p:sp>
        <p:nvSpPr>
          <p:cNvPr id="15" name="TextBox 14"/>
          <p:cNvSpPr txBox="1"/>
          <p:nvPr/>
        </p:nvSpPr>
        <p:spPr>
          <a:xfrm>
            <a:off x="3383280" y="3931920"/>
            <a:ext cx="8229600" cy="822960"/>
          </a:xfrm>
          <a:prstGeom prst="rect">
            <a:avLst/>
          </a:prstGeom>
          <a:noFill/>
        </p:spPr>
        <p:txBody>
          <a:bodyPr wrap="square"/>
          <a:lstStyle/>
          <a:p>
            <a:pPr algn="l">
              <a:defRPr sz="1200" b="0">
                <a:solidFill>
                  <a:srgbClr val="333333"/>
                </a:solidFill>
                <a:latin typeface="Calibri"/>
              </a:defRPr>
            </a:pPr>
            <a:r>
              <a:t>Photosynthesis removes ~120 Gt of CO₂ from the atmosphere annually. Forests and oceans act as carbon sinks, mitigating the greenhouse effect and regulating global temperatures.</a:t>
            </a:r>
          </a:p>
        </p:txBody>
      </p:sp>
      <p:sp>
        <p:nvSpPr>
          <p:cNvPr id="16" name="Rectangle 15"/>
          <p:cNvSpPr/>
          <p:nvPr/>
        </p:nvSpPr>
        <p:spPr>
          <a:xfrm>
            <a:off x="365760" y="5029200"/>
            <a:ext cx="11430000" cy="1097280"/>
          </a:xfrm>
          <a:prstGeom prst="rect">
            <a:avLst/>
          </a:prstGeom>
          <a:solidFill>
            <a:srgbClr val="E8F5E9"/>
          </a:solidFill>
          <a:ln w="127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5029200"/>
            <a:ext cx="2743200" cy="109728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303520"/>
            <a:ext cx="2377440" cy="548640"/>
          </a:xfrm>
          <a:prstGeom prst="rect">
            <a:avLst/>
          </a:prstGeom>
          <a:noFill/>
        </p:spPr>
        <p:txBody>
          <a:bodyPr wrap="square"/>
          <a:lstStyle/>
          <a:p>
            <a:pPr algn="l">
              <a:defRPr sz="1600" b="1">
                <a:solidFill>
                  <a:srgbClr val="FFFFFF"/>
                </a:solidFill>
                <a:latin typeface="Calibri"/>
              </a:defRPr>
            </a:pPr>
            <a:r>
              <a:t>⚡  Renewable Energy</a:t>
            </a:r>
          </a:p>
        </p:txBody>
      </p:sp>
      <p:sp>
        <p:nvSpPr>
          <p:cNvPr id="19" name="TextBox 18"/>
          <p:cNvSpPr txBox="1"/>
          <p:nvPr/>
        </p:nvSpPr>
        <p:spPr>
          <a:xfrm>
            <a:off x="3383280" y="5166360"/>
            <a:ext cx="8229600" cy="822960"/>
          </a:xfrm>
          <a:prstGeom prst="rect">
            <a:avLst/>
          </a:prstGeom>
          <a:noFill/>
        </p:spPr>
        <p:txBody>
          <a:bodyPr wrap="square"/>
          <a:lstStyle/>
          <a:p>
            <a:pPr algn="l">
              <a:defRPr sz="1200" b="0">
                <a:solidFill>
                  <a:srgbClr val="333333"/>
                </a:solidFill>
                <a:latin typeface="Calibri"/>
              </a:defRPr>
            </a:pPr>
            <a:r>
              <a:t>Biofuels, biomass energy, and even fossil fuels (ancient photosynthetic matter) trace back to photosynthesis. Understanding it inspires artificial photosynthesis research.</a:t>
            </a:r>
          </a:p>
        </p:txBody>
      </p:sp>
      <p:sp>
        <p:nvSpPr>
          <p:cNvPr id="20" name="Rectangle 19"/>
          <p:cNvSpPr/>
          <p:nvPr/>
        </p:nvSpPr>
        <p:spPr>
          <a:xfrm>
            <a:off x="365760" y="6309360"/>
            <a:ext cx="11430000" cy="411480"/>
          </a:xfrm>
          <a:prstGeom prst="rect">
            <a:avLst/>
          </a:prstGeom>
          <a:solidFill>
            <a:srgbClr val="1B5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6336792"/>
            <a:ext cx="10881360" cy="347472"/>
          </a:xfrm>
          <a:prstGeom prst="rect">
            <a:avLst/>
          </a:prstGeom>
          <a:noFill/>
        </p:spPr>
        <p:txBody>
          <a:bodyPr wrap="square"/>
          <a:lstStyle/>
          <a:p>
            <a:pPr algn="ctr">
              <a:defRPr sz="1100" b="0">
                <a:solidFill>
                  <a:srgbClr val="FFFFFF"/>
                </a:solidFill>
                <a:latin typeface="Calibri"/>
              </a:defRPr>
            </a:pPr>
            <a:r>
              <a:t>🌱  "In every walk with nature, one receives far more than he seeks." — John Muir</a:t>
            </a:r>
          </a:p>
        </p:txBody>
      </p:sp>
      <p:sp>
        <p:nvSpPr>
          <p:cNvPr id="22" name="TextBox 21"/>
          <p:cNvSpPr txBox="1"/>
          <p:nvPr/>
        </p:nvSpPr>
        <p:spPr>
          <a:xfrm>
            <a:off x="457200" y="6336792"/>
            <a:ext cx="4572000" cy="365760"/>
          </a:xfrm>
          <a:prstGeom prst="rect">
            <a:avLst/>
          </a:prstGeom>
          <a:noFill/>
        </p:spPr>
        <p:txBody>
          <a:bodyPr wrap="square"/>
          <a:lstStyle/>
          <a:p>
            <a:pPr algn="l">
              <a:defRPr sz="900" b="0">
                <a:solidFill>
                  <a:srgbClr val="FFFFFF"/>
                </a:solidFill>
                <a:latin typeface="Calibri"/>
              </a:defRPr>
            </a:pPr>
            <a:r>
              <a:t>Photosynthesis: How Plants Make Their Own Food  |  Dr. James Rodriguez</a:t>
            </a:r>
          </a:p>
        </p:txBody>
      </p:sp>
      <p:sp>
        <p:nvSpPr>
          <p:cNvPr id="23" name="TextBox 22"/>
          <p:cNvSpPr txBox="1"/>
          <p:nvPr/>
        </p:nvSpPr>
        <p:spPr>
          <a:xfrm>
            <a:off x="11155680" y="6336792"/>
            <a:ext cx="731520" cy="365760"/>
          </a:xfrm>
          <a:prstGeom prst="rect">
            <a:avLst/>
          </a:prstGeom>
          <a:noFill/>
        </p:spPr>
        <p:txBody>
          <a:bodyPr wrap="square"/>
          <a:lstStyle/>
          <a:p>
            <a:pPr algn="r">
              <a:defRPr sz="900" b="1">
                <a:solidFill>
                  <a:srgbClr val="FFFFFF"/>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5E20"/>
        </a:solidFill>
        <a:effectLst/>
      </p:bgPr>
    </p:bg>
    <p:spTree>
      <p:nvGrpSpPr>
        <p:cNvPr id="1" name=""/>
        <p:cNvGrpSpPr/>
        <p:nvPr/>
      </p:nvGrpSpPr>
      <p:grpSpPr/>
      <p:sp>
        <p:nvSpPr>
          <p:cNvPr id="2" name="Rectangle 1"/>
          <p:cNvSpPr/>
          <p:nvPr/>
        </p:nvSpPr>
        <p:spPr>
          <a:xfrm>
            <a:off x="0" y="2377440"/>
            <a:ext cx="12191695" cy="25603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32720" cy="914400"/>
          </a:xfrm>
          <a:prstGeom prst="rect">
            <a:avLst/>
          </a:prstGeom>
          <a:noFill/>
        </p:spPr>
        <p:txBody>
          <a:bodyPr wrap="square"/>
          <a:lstStyle/>
          <a:p>
            <a:pPr algn="ctr">
              <a:defRPr sz="4400" b="1">
                <a:solidFill>
                  <a:srgbClr val="FFFFFF"/>
                </a:solidFill>
                <a:latin typeface="Calibri Light"/>
              </a:defRPr>
            </a:pPr>
            <a:r>
              <a:t>Summary &amp; Key Takeaways</a:t>
            </a:r>
          </a:p>
        </p:txBody>
      </p:sp>
      <p:sp>
        <p:nvSpPr>
          <p:cNvPr id="4" name="TextBox 3"/>
          <p:cNvSpPr txBox="1"/>
          <p:nvPr/>
        </p:nvSpPr>
        <p:spPr>
          <a:xfrm>
            <a:off x="1371600" y="2651760"/>
            <a:ext cx="9418320" cy="365760"/>
          </a:xfrm>
          <a:prstGeom prst="rect">
            <a:avLst/>
          </a:prstGeom>
          <a:noFill/>
        </p:spPr>
        <p:txBody>
          <a:bodyPr wrap="square"/>
          <a:lstStyle/>
          <a:p>
            <a:pPr algn="l">
              <a:defRPr sz="1600" b="0">
                <a:solidFill>
                  <a:srgbClr val="FFFFFF"/>
                </a:solidFill>
                <a:latin typeface="Calibri"/>
              </a:defRPr>
            </a:pPr>
            <a:r>
              <a:t>✦  Photosynthesis converts light energy → chemical energy (glucose)</a:t>
            </a:r>
          </a:p>
        </p:txBody>
      </p:sp>
      <p:sp>
        <p:nvSpPr>
          <p:cNvPr id="5" name="TextBox 4"/>
          <p:cNvSpPr txBox="1"/>
          <p:nvPr/>
        </p:nvSpPr>
        <p:spPr>
          <a:xfrm>
            <a:off x="1371600" y="3035808"/>
            <a:ext cx="9418320" cy="365760"/>
          </a:xfrm>
          <a:prstGeom prst="rect">
            <a:avLst/>
          </a:prstGeom>
          <a:noFill/>
        </p:spPr>
        <p:txBody>
          <a:bodyPr wrap="square"/>
          <a:lstStyle/>
          <a:p>
            <a:pPr algn="l">
              <a:defRPr sz="1600" b="0">
                <a:solidFill>
                  <a:srgbClr val="FFFFFF"/>
                </a:solidFill>
                <a:latin typeface="Calibri"/>
              </a:defRPr>
            </a:pPr>
            <a:r>
              <a:t>✦  Requires four key ingredients: Sunlight, Water, CO₂, and Chlorophyll</a:t>
            </a:r>
          </a:p>
        </p:txBody>
      </p:sp>
      <p:sp>
        <p:nvSpPr>
          <p:cNvPr id="6" name="TextBox 5"/>
          <p:cNvSpPr txBox="1"/>
          <p:nvPr/>
        </p:nvSpPr>
        <p:spPr>
          <a:xfrm>
            <a:off x="1371600" y="3419856"/>
            <a:ext cx="9418320" cy="365760"/>
          </a:xfrm>
          <a:prstGeom prst="rect">
            <a:avLst/>
          </a:prstGeom>
          <a:noFill/>
        </p:spPr>
        <p:txBody>
          <a:bodyPr wrap="square"/>
          <a:lstStyle/>
          <a:p>
            <a:pPr algn="l">
              <a:defRPr sz="1600" b="0">
                <a:solidFill>
                  <a:srgbClr val="FFFFFF"/>
                </a:solidFill>
                <a:latin typeface="Calibri"/>
              </a:defRPr>
            </a:pPr>
            <a:r>
              <a:t>✦  Two stages: Light-Dependent Reactions + Calvin Cycle</a:t>
            </a:r>
          </a:p>
        </p:txBody>
      </p:sp>
      <p:sp>
        <p:nvSpPr>
          <p:cNvPr id="7" name="TextBox 6"/>
          <p:cNvSpPr txBox="1"/>
          <p:nvPr/>
        </p:nvSpPr>
        <p:spPr>
          <a:xfrm>
            <a:off x="1371600" y="3803904"/>
            <a:ext cx="9418320" cy="365760"/>
          </a:xfrm>
          <a:prstGeom prst="rect">
            <a:avLst/>
          </a:prstGeom>
          <a:noFill/>
        </p:spPr>
        <p:txBody>
          <a:bodyPr wrap="square"/>
          <a:lstStyle/>
          <a:p>
            <a:pPr algn="l">
              <a:defRPr sz="1600" b="0">
                <a:solidFill>
                  <a:srgbClr val="FFFFFF"/>
                </a:solidFill>
                <a:latin typeface="Calibri"/>
              </a:defRPr>
            </a:pPr>
            <a:r>
              <a:t>✦  Produces oxygen essential for aerobic life on Earth</a:t>
            </a:r>
          </a:p>
        </p:txBody>
      </p:sp>
      <p:sp>
        <p:nvSpPr>
          <p:cNvPr id="8" name="TextBox 7"/>
          <p:cNvSpPr txBox="1"/>
          <p:nvPr/>
        </p:nvSpPr>
        <p:spPr>
          <a:xfrm>
            <a:off x="1371600" y="4187952"/>
            <a:ext cx="9418320" cy="365760"/>
          </a:xfrm>
          <a:prstGeom prst="rect">
            <a:avLst/>
          </a:prstGeom>
          <a:noFill/>
        </p:spPr>
        <p:txBody>
          <a:bodyPr wrap="square"/>
          <a:lstStyle/>
          <a:p>
            <a:pPr algn="l">
              <a:defRPr sz="1600" b="0">
                <a:solidFill>
                  <a:srgbClr val="FFFFFF"/>
                </a:solidFill>
                <a:latin typeface="Calibri"/>
              </a:defRPr>
            </a:pPr>
            <a:r>
              <a:t>✦  Foundation of global food chains and carbon cycle regulation</a:t>
            </a:r>
          </a:p>
        </p:txBody>
      </p:sp>
      <p:sp>
        <p:nvSpPr>
          <p:cNvPr id="9" name="TextBox 8"/>
          <p:cNvSpPr txBox="1"/>
          <p:nvPr/>
        </p:nvSpPr>
        <p:spPr>
          <a:xfrm>
            <a:off x="914400" y="5120640"/>
            <a:ext cx="10332720" cy="640080"/>
          </a:xfrm>
          <a:prstGeom prst="rect">
            <a:avLst/>
          </a:prstGeom>
          <a:noFill/>
        </p:spPr>
        <p:txBody>
          <a:bodyPr wrap="square"/>
          <a:lstStyle/>
          <a:p>
            <a:pPr algn="ctr">
              <a:defRPr sz="3200" b="1">
                <a:solidFill>
                  <a:srgbClr val="CDDC39"/>
                </a:solidFill>
                <a:latin typeface="Calibri Light"/>
              </a:defRPr>
            </a:pPr>
            <a:r>
              <a:t>Questions &amp; Discussion</a:t>
            </a:r>
          </a:p>
        </p:txBody>
      </p:sp>
      <p:sp>
        <p:nvSpPr>
          <p:cNvPr id="10" name="TextBox 9"/>
          <p:cNvSpPr txBox="1"/>
          <p:nvPr/>
        </p:nvSpPr>
        <p:spPr>
          <a:xfrm>
            <a:off x="914400" y="5669280"/>
            <a:ext cx="10332720" cy="457200"/>
          </a:xfrm>
          <a:prstGeom prst="rect">
            <a:avLst/>
          </a:prstGeom>
          <a:noFill/>
        </p:spPr>
        <p:txBody>
          <a:bodyPr wrap="square"/>
          <a:lstStyle/>
          <a:p>
            <a:pPr algn="ctr">
              <a:defRPr sz="1600" b="0">
                <a:solidFill>
                  <a:srgbClr val="FFFFFF"/>
                </a:solidFill>
                <a:latin typeface="Calibri"/>
              </a:defRPr>
            </a:pPr>
            <a:r>
              <a:t>Thank you for your attention!  We welcome your questions.</a:t>
            </a:r>
          </a:p>
        </p:txBody>
      </p:sp>
      <p:sp>
        <p:nvSpPr>
          <p:cNvPr id="11" name="TextBox 10"/>
          <p:cNvSpPr txBox="1"/>
          <p:nvPr/>
        </p:nvSpPr>
        <p:spPr>
          <a:xfrm>
            <a:off x="457200" y="6336792"/>
            <a:ext cx="4572000" cy="365760"/>
          </a:xfrm>
          <a:prstGeom prst="rect">
            <a:avLst/>
          </a:prstGeom>
          <a:noFill/>
        </p:spPr>
        <p:txBody>
          <a:bodyPr wrap="square"/>
          <a:lstStyle/>
          <a:p>
            <a:pPr algn="l">
              <a:defRPr sz="900" b="0">
                <a:solidFill>
                  <a:srgbClr val="FFFFFF"/>
                </a:solidFill>
                <a:latin typeface="Calibri"/>
              </a:defRPr>
            </a:pPr>
            <a:r>
              <a:t>Photosynthesis: How Plants Make Their Own Food  |  Prof. Emily Nakamura</a:t>
            </a:r>
          </a:p>
        </p:txBody>
      </p:sp>
      <p:sp>
        <p:nvSpPr>
          <p:cNvPr id="12" name="TextBox 11"/>
          <p:cNvSpPr txBox="1"/>
          <p:nvPr/>
        </p:nvSpPr>
        <p:spPr>
          <a:xfrm>
            <a:off x="11155680" y="6336792"/>
            <a:ext cx="731520" cy="365760"/>
          </a:xfrm>
          <a:prstGeom prst="rect">
            <a:avLst/>
          </a:prstGeom>
          <a:noFill/>
        </p:spPr>
        <p:txBody>
          <a:bodyPr wrap="square"/>
          <a:lstStyle/>
          <a:p>
            <a:pPr algn="r">
              <a:defRPr sz="900" b="1">
                <a:solidFill>
                  <a:srgbClr val="FFFFFF"/>
                </a:solidFill>
                <a:latin typeface="Calibri"/>
              </a:defRPr>
            </a:pPr>
            <a: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