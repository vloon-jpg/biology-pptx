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0"/>
            <a:ext cx="640080" cy="640080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34640" y="1828800"/>
            <a:ext cx="640080" cy="640080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12080" y="1828800"/>
            <a:ext cx="640080" cy="640080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0" y="1828800"/>
            <a:ext cx="640080" cy="640080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1828800"/>
            <a:ext cx="640080" cy="640080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5400" b="0">
                <a:solidFill>
                  <a:srgbClr val="FFFFFF"/>
                </a:solidFill>
                <a:latin typeface="Calibri Light"/>
              </a:defRPr>
            </a:pPr>
            <a:r>
              <a:t>How Plants Eat Sunshine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800" b="0">
                <a:solidFill>
                  <a:srgbClr val="F0D060"/>
                </a:solidFill>
                <a:latin typeface="Calibri Light"/>
              </a:defRPr>
            </a:pPr>
            <a:r>
              <a:t>The Magic of Photosynthesis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160520"/>
            <a:ext cx="3931920" cy="274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4348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600" b="0">
                <a:solidFill>
                  <a:srgbClr val="6B9080"/>
                </a:solidFill>
                <a:latin typeface="Calibri Light"/>
              </a:defRPr>
            </a:pPr>
            <a:r>
              <a:t>Or: Why You Owe Every Breath to a Leaf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49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0">
                <a:solidFill>
                  <a:srgbClr val="6B9080"/>
                </a:solidFill>
                <a:latin typeface="Calibri"/>
              </a:defRPr>
            </a:pPr>
            <a:r>
              <a:t>Levy  •  Member 2  •  Member 3  •  Member 4  •  Member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2D6A4F"/>
                </a:solidFill>
                <a:latin typeface="Calibri"/>
              </a:defRPr>
            </a:pPr>
            <a:r>
              <a:t>01  ·  WHAT IS PHOTOSYNTHESIS?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600" b="0">
                <a:solidFill>
                  <a:srgbClr val="1B4332"/>
                </a:solidFill>
                <a:latin typeface="Calibri Light"/>
              </a:defRPr>
            </a:pPr>
            <a:r>
              <a:t>Plants Turn Sunlight into Food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858000" cy="1143000"/>
          </a:xfrm>
          <a:prstGeom prst="roundRect">
            <a:avLst/>
          </a:prstGeom>
          <a:solidFill>
            <a:srgbClr val="E0EEE8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6A4F"/>
                </a:solidFill>
                <a:latin typeface="Calibri"/>
              </a:defRPr>
            </a:pPr>
            <a:r>
              <a:t>The Simplest Definition</a:t>
            </a:r>
          </a:p>
          <a:p>
            <a:pPr>
              <a:spcBef>
                <a:spcPts val="400"/>
              </a:spcBef>
              <a:defRPr sz="2000" b="0">
                <a:solidFill>
                  <a:srgbClr val="0D2818"/>
                </a:solidFill>
                <a:latin typeface="Calibri"/>
              </a:defRPr>
            </a:pPr>
            <a:r>
              <a:t>Sunlight  +  Water  +  CO₂    ⟶    Glucose  +  Oxygen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0">
                <a:solidFill>
                  <a:srgbClr val="0D2818"/>
                </a:solidFill>
                <a:latin typeface="Calibri"/>
              </a:defRPr>
            </a:pPr>
            <a:r>
              <a:t>6 CO₂  +  6 H₂O  +  Light Energy    ⟶    C₆H₁₂O₆  +  6 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383280" cy="178308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0D060"/>
                </a:solidFill>
                <a:latin typeface="Calibri"/>
              </a:defRPr>
            </a:pPr>
            <a:r>
              <a:t>💡  Fun Fact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400">
                <a:solidFill>
                  <a:srgbClr val="FFFFFF"/>
                </a:solidFill>
                <a:latin typeface="Calibri Light"/>
              </a:defRPr>
            </a:pPr>
            <a:r>
              <a:t>Every oxygen molecule you breathe was once split from a water molecule by a plant.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2D6A4F"/>
                </a:solidFill>
                <a:latin typeface="Calibri"/>
              </a:defRPr>
            </a:pPr>
            <a:r>
              <a:t>Where It Happens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0">
                <a:solidFill>
                  <a:srgbClr val="1B4332"/>
                </a:solidFill>
                <a:latin typeface="Calibri Light"/>
              </a:defRPr>
            </a:pPr>
            <a:r>
              <a:t>Inside chloroplasts — tiny green solar panels in leaf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920240" cy="50292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0D060"/>
                </a:solidFill>
                <a:latin typeface="Calibri"/>
              </a:defRPr>
            </a:pPr>
            <a:r>
              <a:t>☀  SUNLIGHT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4846320"/>
            <a:ext cx="1920240" cy="50292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74BFE1"/>
                </a:solidFill>
                <a:latin typeface="Calibri"/>
              </a:defRPr>
            </a:pPr>
            <a:r>
              <a:t>💧 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4846320"/>
            <a:ext cx="1920240" cy="50292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B0BEC5"/>
                </a:solidFill>
                <a:latin typeface="Calibri"/>
              </a:defRPr>
            </a:pPr>
            <a:r>
              <a:t>🌬  CO₂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58000" y="4892040"/>
            <a:ext cx="548640" cy="411480"/>
          </a:xfrm>
          <a:prstGeom prst="rightArrow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0" y="4846320"/>
            <a:ext cx="1737360" cy="50292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892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0D060"/>
                </a:solidFill>
                <a:latin typeface="Calibri"/>
              </a:defRPr>
            </a:pPr>
            <a:r>
              <a:t>🍬  GLUCOSE (Food)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4846320"/>
            <a:ext cx="1737360" cy="50292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4892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74BFE1"/>
                </a:solidFill>
                <a:latin typeface="Calibri"/>
              </a:defRPr>
            </a:pPr>
            <a:r>
              <a:t>🫧  OXYGEN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D6A4F"/>
                </a:solidFill>
                <a:latin typeface="Calibri"/>
              </a:defRPr>
            </a:pPr>
            <a:r>
              <a:t>02  ·  THE LIGHT REACTIONS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600" b="0">
                <a:solidFill>
                  <a:srgbClr val="1B4332"/>
                </a:solidFill>
                <a:latin typeface="Calibri Light"/>
              </a:defRPr>
            </a:pPr>
            <a:r>
              <a:t>Catching Energy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0">
                <a:solidFill>
                  <a:srgbClr val="1B4332"/>
                </a:solidFill>
                <a:latin typeface="Calibri Light"/>
              </a:defRPr>
            </a:pPr>
            <a:r>
              <a:t>Happens in the thylakoid membranes — the "pancake stacks" inside chloroplasts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377440"/>
            <a:ext cx="1097280" cy="1097280"/>
          </a:xfrm>
          <a:prstGeom prst="ellipse">
            <a:avLst/>
          </a:prstGeom>
          <a:solidFill>
            <a:srgbClr val="F0D060"/>
          </a:solidFill>
          <a:ln w="25400">
            <a:solidFill>
              <a:srgbClr val="E0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100" b="1">
                <a:solidFill>
                  <a:srgbClr val="0D2818"/>
                </a:solidFill>
                <a:latin typeface="Calibri"/>
              </a:defRPr>
            </a:pPr>
            <a:r>
              <a:t>Light Energy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2743200"/>
            <a:ext cx="502920" cy="320040"/>
          </a:xfrm>
          <a:prstGeom prst="rightArrow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2103120"/>
            <a:ext cx="2560320" cy="164592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194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" b="1">
                <a:solidFill>
                  <a:srgbClr val="F0D060"/>
                </a:solidFill>
                <a:latin typeface="Calibri"/>
              </a:defRPr>
            </a:pPr>
            <a:r>
              <a:t>CHLOROPHYLL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5603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Captures light</a:t>
            </a:r>
            <a:br/>
            <a:r>
              <a:t>Splits H₂O molecules</a:t>
            </a:r>
            <a:br/>
            <a:r>
              <a:t>Releases O₂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2743200"/>
            <a:ext cx="502920" cy="320040"/>
          </a:xfrm>
          <a:prstGeom prst="rightArrow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1965960"/>
            <a:ext cx="1371600" cy="82296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011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F0D060"/>
                </a:solidFill>
                <a:latin typeface="Calibri"/>
              </a:defRPr>
            </a:pPr>
            <a:r>
              <a:t>ATP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240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000" b="0">
                <a:solidFill>
                  <a:srgbClr val="FFFFFF"/>
                </a:solidFill>
                <a:latin typeface="Calibri Light"/>
              </a:defRPr>
            </a:pPr>
            <a:r>
              <a:t>Energy</a:t>
            </a:r>
            <a:br/>
            <a:r>
              <a:t>Currency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926080"/>
            <a:ext cx="1371600" cy="82296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971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95D5B2"/>
                </a:solidFill>
                <a:latin typeface="Calibri"/>
              </a:defRPr>
            </a:pPr>
            <a:r>
              <a:t>NADPH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2004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000" b="0">
                <a:solidFill>
                  <a:srgbClr val="FFFFFF"/>
                </a:solidFill>
                <a:latin typeface="Calibri Light"/>
              </a:defRPr>
            </a:pPr>
            <a:r>
              <a:t>Electron</a:t>
            </a:r>
            <a:br/>
            <a:r>
              <a:t>Carrier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886200"/>
            <a:ext cx="1371600" cy="82296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931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74BFE1"/>
                </a:solidFill>
                <a:latin typeface="Calibri"/>
              </a:defRPr>
            </a:pPr>
            <a:r>
              <a:t>O₂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160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000" b="0">
                <a:solidFill>
                  <a:srgbClr val="1B4332"/>
                </a:solidFill>
                <a:latin typeface="Calibri Light"/>
              </a:defRPr>
            </a:pPr>
            <a:r>
              <a:t>Oxygen</a:t>
            </a:r>
            <a:br/>
            <a:r>
              <a:t>Released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407408"/>
            <a:ext cx="128016" cy="128016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708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1B4332"/>
                </a:solidFill>
                <a:latin typeface="Calibri Light"/>
              </a:defRPr>
            </a:pPr>
            <a:r>
              <a:t>Chlorophyll captures sunlight and splits water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754880"/>
            <a:ext cx="128016" cy="128016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18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1B4332"/>
                </a:solidFill>
                <a:latin typeface="Calibri Light"/>
              </a:defRPr>
            </a:pPr>
            <a:r>
              <a:t>Produces ATP — the cell's energy currency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102352"/>
            <a:ext cx="128016" cy="128016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6577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1B4332"/>
                </a:solidFill>
                <a:latin typeface="Calibri Light"/>
              </a:defRPr>
            </a:pPr>
            <a:r>
              <a:t>Produces NADPH — carries electrons to Phase 2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5449824"/>
            <a:ext cx="128016" cy="128016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4132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1B4332"/>
                </a:solidFill>
                <a:latin typeface="Calibri Light"/>
              </a:defRPr>
            </a:pPr>
            <a:r>
              <a:t>Byproduct: oxygen is released into the 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4297680"/>
            <a:ext cx="2926080" cy="1188720"/>
          </a:xfrm>
          <a:prstGeom prst="roundRect">
            <a:avLst/>
          </a:prstGeom>
          <a:solidFill>
            <a:srgbClr val="E0EE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D6A4F"/>
                </a:solidFill>
                <a:latin typeface="Calibri"/>
              </a:defRPr>
            </a:pPr>
            <a:r>
              <a:t>🔋  Analogy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709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B4332"/>
                </a:solidFill>
                <a:latin typeface="Calibri Light"/>
              </a:defRPr>
            </a:pPr>
            <a:r>
              <a:t>This is the "charging the battery" phase — capturing and storing energy.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9080"/>
                </a:solidFill>
                <a:latin typeface="Calibri"/>
              </a:defRPr>
            </a:pPr>
            <a:r>
              <a:t>⚡  Light reactions require sunlight — they stop in the dark.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D6A4F"/>
                </a:solidFill>
                <a:latin typeface="Calibri"/>
              </a:defRPr>
            </a:pPr>
            <a:r>
              <a:t>03  ·  THE CALVIN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600" b="0">
                <a:solidFill>
                  <a:srgbClr val="1B4332"/>
                </a:solidFill>
                <a:latin typeface="Calibri Light"/>
              </a:defRPr>
            </a:pPr>
            <a:r>
              <a:t>Building Sugar —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0">
                <a:solidFill>
                  <a:srgbClr val="1B4332"/>
                </a:solidFill>
                <a:latin typeface="Calibri Light"/>
              </a:defRPr>
            </a:pPr>
            <a:r>
              <a:t>Happens in the stroma — the liquid-filled space inside the chloroplast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2743200"/>
            <a:ext cx="2194560" cy="2194560"/>
          </a:xfrm>
          <a:prstGeom prst="ellipse">
            <a:avLst/>
          </a:prstGeom>
          <a:ln w="381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3611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1B4332"/>
                </a:solidFill>
                <a:latin typeface="Calibri"/>
              </a:defRPr>
            </a:pPr>
            <a:r>
              <a:t>CALVIN</a:t>
            </a:r>
            <a:br/>
            <a:r>
              <a:t>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63040"/>
            <a:ext cx="1188720" cy="640080"/>
          </a:xfrm>
          <a:prstGeom prst="roundRect">
            <a:avLst/>
          </a:prstGeom>
          <a:solidFill>
            <a:srgbClr val="E0EE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4630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100" b="1">
                <a:solidFill>
                  <a:srgbClr val="1B4332"/>
                </a:solidFill>
                <a:latin typeface="Calibri"/>
              </a:defRPr>
            </a:pPr>
            <a:r>
              <a:t>CO₂ from air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6664" y="4571999"/>
            <a:ext cx="1188720" cy="640080"/>
          </a:xfrm>
          <a:prstGeom prst="roundRect">
            <a:avLst/>
          </a:prstGeom>
          <a:solidFill>
            <a:srgbClr val="E0EE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6664" y="457199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100" b="1">
                <a:solidFill>
                  <a:srgbClr val="1B4332"/>
                </a:solidFill>
                <a:latin typeface="Calibri"/>
              </a:defRPr>
            </a:pPr>
            <a:r>
              <a:t>ATP from</a:t>
            </a:r>
            <a:br/>
            <a:r>
              <a:t>Light Rxns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5576" y="4571999"/>
            <a:ext cx="1188720" cy="640080"/>
          </a:xfrm>
          <a:prstGeom prst="roundRect">
            <a:avLst/>
          </a:prstGeom>
          <a:solidFill>
            <a:srgbClr val="E0EE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5576" y="457199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100" b="1">
                <a:solidFill>
                  <a:srgbClr val="1B4332"/>
                </a:solidFill>
                <a:latin typeface="Calibri"/>
              </a:defRPr>
            </a:pPr>
            <a:r>
              <a:t>NADPH from</a:t>
            </a:r>
            <a:br/>
            <a:r>
              <a:t>Light Rxns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03520" y="3611880"/>
            <a:ext cx="457200" cy="320040"/>
          </a:xfrm>
          <a:prstGeom prst="rightArrow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3200400"/>
            <a:ext cx="1645920" cy="100584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" b="1">
                <a:solidFill>
                  <a:srgbClr val="F0D060"/>
                </a:solidFill>
                <a:latin typeface="Calibri"/>
              </a:defRPr>
            </a:pPr>
            <a:r>
              <a:t>GLUCOSE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11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C₆H₁₂O₆</a:t>
            </a:r>
            <a:br/>
            <a:r>
              <a:t>Plant Food!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4748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1B4332"/>
                </a:solidFill>
                <a:latin typeface="Calibri Light"/>
              </a:defRPr>
            </a:pPr>
            <a:r>
              <a:t>Uses CO₂ from the air + ATP &amp; NADPH from light reactions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513832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5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1B4332"/>
                </a:solidFill>
                <a:latin typeface="Calibri Light"/>
              </a:defRPr>
            </a:pPr>
            <a:r>
              <a:t>Builds glucose through a cycle of enzyme reactions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861304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42431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1B4332"/>
                </a:solidFill>
                <a:latin typeface="Calibri Light"/>
              </a:defRPr>
            </a:pPr>
            <a:r>
              <a:t>Named after Melvin Calvin — discovered in the 1950s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40080" y="6163056"/>
            <a:ext cx="228600" cy="182880"/>
          </a:xfrm>
          <a:prstGeom prst="rightArrow">
            <a:avLst/>
          </a:prstGeom>
          <a:solidFill>
            <a:srgbClr val="D4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608990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1">
                <a:solidFill>
                  <a:srgbClr val="1B4332"/>
                </a:solidFill>
                <a:latin typeface="Calibri Light"/>
              </a:defRPr>
            </a:pPr>
            <a:r>
              <a:t>This phase doesn't need light directly!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029200"/>
            <a:ext cx="3200400" cy="1188720"/>
          </a:xfrm>
          <a:prstGeom prst="roundRect">
            <a:avLst/>
          </a:prstGeom>
          <a:solidFill>
            <a:srgbClr val="E0EE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5120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D6A4F"/>
                </a:solidFill>
                <a:latin typeface="Calibri"/>
              </a:defRPr>
            </a:pPr>
            <a:r>
              <a:t>🏗️  Analogy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394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B4332"/>
                </a:solidFill>
                <a:latin typeface="Calibri Light"/>
              </a:defRPr>
            </a:pPr>
            <a:r>
              <a:t>The "spending the battery to build stuff" phase — using stored energy to make sugar.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2D6A4F"/>
                </a:solidFill>
                <a:latin typeface="Calibri"/>
              </a:defRPr>
            </a:pPr>
            <a:r>
              <a:t>04  · 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600" b="0">
                <a:solidFill>
                  <a:srgbClr val="1B4332"/>
                </a:solidFill>
                <a:latin typeface="Calibri Light"/>
              </a:defRPr>
            </a:pPr>
            <a:r>
              <a:t>Photosynthesis = Life Support for Planet Earth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73152" cy="1234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928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2D6A4F"/>
                </a:solidFill>
                <a:latin typeface="Calibri"/>
              </a:defRPr>
            </a:pPr>
            <a:r>
              <a:t>OXYGEN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>
                <a:solidFill>
                  <a:srgbClr val="1B4332"/>
                </a:solidFill>
                <a:latin typeface="Calibri Light"/>
              </a:defRPr>
            </a:pPr>
            <a:r>
              <a:t>Every second breath you take comes from ocean phytoplankton — not just trees.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783080"/>
            <a:ext cx="73152" cy="1234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928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2D6A4F"/>
                </a:solidFill>
                <a:latin typeface="Calibri"/>
              </a:defRPr>
            </a:pPr>
            <a:r>
              <a:t>FOOD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>
                <a:solidFill>
                  <a:srgbClr val="1B4332"/>
                </a:solidFill>
                <a:latin typeface="Calibri Light"/>
              </a:defRPr>
            </a:pPr>
            <a:r>
              <a:t>No photosynthesis = no plants = no animals = no humans. It's the base of everything.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73152" cy="1234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558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2D6A4F"/>
                </a:solidFill>
                <a:latin typeface="Calibri"/>
              </a:defRPr>
            </a:pPr>
            <a:r>
              <a:t>CLIMATE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>
                <a:solidFill>
                  <a:srgbClr val="1B4332"/>
                </a:solidFill>
                <a:latin typeface="Calibri Light"/>
              </a:defRPr>
            </a:pPr>
            <a:r>
              <a:t>Plants absorb CO₂, the main greenhouse gas. They're Earth's natural thermostat.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24612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246120"/>
            <a:ext cx="73152" cy="1234440"/>
          </a:xfrm>
          <a:prstGeom prst="rect">
            <a:avLst/>
          </a:prstGeom>
          <a:solidFill>
            <a:srgbClr val="D4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558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D4A337"/>
                </a:solidFill>
                <a:latin typeface="Calibri"/>
              </a:defRPr>
            </a:pPr>
            <a:r>
              <a:t>DEFORESTATION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>
                <a:solidFill>
                  <a:srgbClr val="1B4332"/>
                </a:solidFill>
                <a:latin typeface="Calibri Light"/>
              </a:defRPr>
            </a:pPr>
            <a:r>
              <a:t>Cutting down forests is literally turning off Earth's oxygen factories.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98480" cy="91440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F0D060"/>
                </a:solidFill>
                <a:latin typeface="Calibri Light"/>
              </a:defRPr>
            </a:pPr>
            <a:r>
              <a:t>🌳  A single large tree produces enough oxygen for 2–4 humans per year.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200" b="0">
                <a:solidFill>
                  <a:srgbClr val="6B9080"/>
                </a:solidFill>
                <a:latin typeface="Calibri"/>
              </a:defRPr>
            </a:pPr>
            <a:r>
              <a:t>The ocean's phytoplankton produce 50–80% of Earth's oxygen. Every other breath = ocean.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400" b="0">
                <a:solidFill>
                  <a:srgbClr val="FFFFFF"/>
                </a:solidFill>
                <a:latin typeface="Calibri Light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417320"/>
            <a:ext cx="3017520" cy="274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1965960"/>
            <a:ext cx="502920" cy="50292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000" b="1">
                <a:solidFill>
                  <a:srgbClr val="1B433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65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Photosynthesis turns sunlight into chemical energy —</a:t>
            </a:r>
            <a:br/>
            <a:r>
              <a:t>the most important chemical reaction on Earth.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2926080"/>
            <a:ext cx="502920" cy="50292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000" b="1">
                <a:solidFill>
                  <a:srgbClr val="1B433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260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Two phases: Light Reactions (capture energy)</a:t>
            </a:r>
            <a:br/>
            <a:r>
              <a:t>→  Calvin Cycle (build sugar).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3886200"/>
            <a:ext cx="502920" cy="50292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977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000" b="1">
                <a:solidFill>
                  <a:srgbClr val="1B433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862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Every food chain on Earth starts with photosynthesis.</a:t>
            </a:r>
          </a:p>
        </p:txBody>
      </p:sp>
      <p:sp>
        <p:nvSpPr>
          <p:cNvPr id="14" name="Oval 13"/>
          <p:cNvSpPr/>
          <p:nvPr/>
        </p:nvSpPr>
        <p:spPr>
          <a:xfrm>
            <a:off x="1280160" y="4846320"/>
            <a:ext cx="502920" cy="50292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000" b="1">
                <a:solidFill>
                  <a:srgbClr val="1B433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463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Protecting forests = protecting the planet's life support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5806440"/>
            <a:ext cx="9601200" cy="731520"/>
          </a:xfrm>
          <a:prstGeom prst="roundRect">
            <a:avLst/>
          </a:prstGeom>
          <a:solidFill>
            <a:srgbClr val="24523F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89788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F0D060"/>
                </a:solidFill>
                <a:latin typeface="Calibri Light"/>
              </a:defRPr>
            </a:pPr>
            <a:r>
              <a:t>"Next time you see a leaf — that's a solar-powered food factory. Respect it."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5379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6B9080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